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3" r:id="rId11"/>
    <p:sldId id="284" r:id="rId12"/>
    <p:sldId id="285" r:id="rId13"/>
    <p:sldId id="286" r:id="rId14"/>
    <p:sldId id="265" r:id="rId15"/>
    <p:sldId id="266" r:id="rId16"/>
    <p:sldId id="287" r:id="rId17"/>
    <p:sldId id="288" r:id="rId18"/>
    <p:sldId id="267" r:id="rId19"/>
    <p:sldId id="268" r:id="rId20"/>
    <p:sldId id="281" r:id="rId21"/>
    <p:sldId id="280" r:id="rId22"/>
    <p:sldId id="269" r:id="rId23"/>
    <p:sldId id="278" r:id="rId24"/>
    <p:sldId id="282" r:id="rId25"/>
    <p:sldId id="270" r:id="rId26"/>
    <p:sldId id="277" r:id="rId27"/>
    <p:sldId id="271" r:id="rId28"/>
    <p:sldId id="276" r:id="rId29"/>
    <p:sldId id="272" r:id="rId30"/>
    <p:sldId id="273" r:id="rId31"/>
    <p:sldId id="274" r:id="rId32"/>
    <p:sldId id="275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70" d="100"/>
          <a:sy n="70" d="100"/>
        </p:scale>
        <p:origin x="-720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alphaModFix amt="88000"/>
          </a:blip>
          <a:stretch>
            <a:fillRect r="-1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7985" y="5046977"/>
            <a:ext cx="9497192" cy="651549"/>
            <a:chOff x="611" y="7804"/>
            <a:chExt cx="14956" cy="1026"/>
          </a:xfrm>
        </p:grpSpPr>
        <p:grpSp>
          <p:nvGrpSpPr>
            <p:cNvPr id="3" name="Group 3"/>
            <p:cNvGrpSpPr/>
            <p:nvPr/>
          </p:nvGrpSpPr>
          <p:grpSpPr>
            <a:xfrm>
              <a:off x="611" y="7839"/>
              <a:ext cx="8149" cy="991"/>
              <a:chOff x="377" y="7983"/>
              <a:chExt cx="8149" cy="935"/>
            </a:xfrm>
          </p:grpSpPr>
          <p:grpSp>
            <p:nvGrpSpPr>
              <p:cNvPr id="4" name="Group 4"/>
              <p:cNvGrpSpPr/>
              <p:nvPr/>
            </p:nvGrpSpPr>
            <p:grpSpPr>
              <a:xfrm>
                <a:off x="377" y="7983"/>
                <a:ext cx="6949" cy="935"/>
                <a:chOff x="-2" y="0"/>
                <a:chExt cx="6821752" cy="791972"/>
              </a:xfrm>
            </p:grpSpPr>
            <p:sp>
              <p:nvSpPr>
                <p:cNvPr id="5" name="Freeform 5"/>
                <p:cNvSpPr/>
                <p:nvPr/>
              </p:nvSpPr>
              <p:spPr>
                <a:xfrm>
                  <a:off x="-2" y="0"/>
                  <a:ext cx="6821752" cy="7919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1996" h="791972">
                      <a:moveTo>
                        <a:pt x="0" y="395986"/>
                      </a:moveTo>
                      <a:cubicBezTo>
                        <a:pt x="0" y="177292"/>
                        <a:pt x="177292" y="0"/>
                        <a:pt x="395986" y="0"/>
                      </a:cubicBezTo>
                      <a:lnTo>
                        <a:pt x="3636010" y="0"/>
                      </a:lnTo>
                      <a:cubicBezTo>
                        <a:pt x="3854704" y="0"/>
                        <a:pt x="4031996" y="177292"/>
                        <a:pt x="4031996" y="395986"/>
                      </a:cubicBezTo>
                      <a:cubicBezTo>
                        <a:pt x="4031996" y="614680"/>
                        <a:pt x="3854704" y="791972"/>
                        <a:pt x="3636010" y="791972"/>
                      </a:cubicBezTo>
                      <a:lnTo>
                        <a:pt x="395986" y="791972"/>
                      </a:lnTo>
                      <a:cubicBezTo>
                        <a:pt x="177292" y="791972"/>
                        <a:pt x="0" y="614680"/>
                        <a:pt x="0" y="395986"/>
                      </a:cubicBezTo>
                      <a:close/>
                    </a:path>
                  </a:pathLst>
                </a:custGeom>
                <a:solidFill>
                  <a:srgbClr val="1F487C"/>
                </a:solidFill>
              </p:spPr>
              <p:txBody>
                <a:bodyPr/>
                <a:lstStyle/>
                <a:p>
                  <a:endParaRPr lang="en-IN"/>
                </a:p>
              </p:txBody>
            </p:sp>
          </p:grpSp>
          <p:sp>
            <p:nvSpPr>
              <p:cNvPr id="6" name="TextBox 6"/>
              <p:cNvSpPr txBox="1"/>
              <p:nvPr/>
            </p:nvSpPr>
            <p:spPr>
              <a:xfrm>
                <a:off x="649" y="7983"/>
                <a:ext cx="7877" cy="934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0" indent="0" algn="l" fontAlgn="auto">
                  <a:defRPr/>
                </a:pPr>
                <a:r>
                  <a:rPr lang="en-US" sz="2400" dirty="0">
                    <a:solidFill>
                      <a:schemeClr val="bg1"/>
                    </a:solidFill>
                    <a:latin typeface="思源黑体 Normal"/>
                  </a:rPr>
                  <a:t>Prepared By: AYUSH DASH </a:t>
                </a:r>
                <a:endParaRPr lang="en-US" sz="1100" dirty="0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9249" y="7804"/>
              <a:ext cx="6318" cy="1025"/>
              <a:chOff x="3812" y="7941"/>
              <a:chExt cx="5166" cy="966"/>
            </a:xfrm>
          </p:grpSpPr>
          <p:grpSp>
            <p:nvGrpSpPr>
              <p:cNvPr id="8" name="Group 8"/>
              <p:cNvGrpSpPr/>
              <p:nvPr/>
            </p:nvGrpSpPr>
            <p:grpSpPr>
              <a:xfrm>
                <a:off x="3812" y="7941"/>
                <a:ext cx="4522" cy="966"/>
                <a:chOff x="3372607" y="-35739"/>
                <a:chExt cx="4438966" cy="818318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3372607" y="-35739"/>
                  <a:ext cx="4438966" cy="8183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1996" h="791972">
                      <a:moveTo>
                        <a:pt x="0" y="395986"/>
                      </a:moveTo>
                      <a:cubicBezTo>
                        <a:pt x="0" y="177292"/>
                        <a:pt x="177292" y="0"/>
                        <a:pt x="395986" y="0"/>
                      </a:cubicBezTo>
                      <a:lnTo>
                        <a:pt x="3636010" y="0"/>
                      </a:lnTo>
                      <a:cubicBezTo>
                        <a:pt x="3854704" y="0"/>
                        <a:pt x="4031996" y="177292"/>
                        <a:pt x="4031996" y="395986"/>
                      </a:cubicBezTo>
                      <a:cubicBezTo>
                        <a:pt x="4031996" y="614680"/>
                        <a:pt x="3854704" y="791972"/>
                        <a:pt x="3636010" y="791972"/>
                      </a:cubicBezTo>
                      <a:lnTo>
                        <a:pt x="395986" y="791972"/>
                      </a:lnTo>
                      <a:cubicBezTo>
                        <a:pt x="177292" y="791972"/>
                        <a:pt x="0" y="614680"/>
                        <a:pt x="0" y="395986"/>
                      </a:cubicBezTo>
                      <a:close/>
                    </a:path>
                  </a:pathLst>
                </a:custGeom>
                <a:solidFill>
                  <a:srgbClr val="1F487C"/>
                </a:solidFill>
              </p:spPr>
              <p:txBody>
                <a:bodyPr vert="horz" lIns="91440" tIns="45720" rIns="91440" bIns="45720" anchor="t"/>
                <a:lstStyle/>
                <a:p>
                  <a:pPr marL="0" algn="l"/>
                  <a:endParaRPr/>
                </a:p>
              </p:txBody>
            </p:sp>
          </p:grpSp>
          <p:sp>
            <p:nvSpPr>
              <p:cNvPr id="10" name="TextBox 10"/>
              <p:cNvSpPr txBox="1"/>
              <p:nvPr/>
            </p:nvSpPr>
            <p:spPr>
              <a:xfrm>
                <a:off x="4118" y="7941"/>
                <a:ext cx="4860" cy="934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0" indent="0" algn="l" fontAlgn="auto">
                  <a:defRPr/>
                </a:pPr>
                <a:r>
                  <a:rPr lang="en-US" sz="2400" b="0" i="0" u="none" baseline="0" dirty="0">
                    <a:solidFill>
                      <a:schemeClr val="bg1"/>
                    </a:solidFill>
                    <a:latin typeface="思源黑体 Normal"/>
                    <a:ea typeface="思源黑体 Normal"/>
                  </a:rPr>
                  <a:t>Date: </a:t>
                </a:r>
                <a:r>
                  <a:rPr lang="en-US" sz="2400" dirty="0">
                    <a:solidFill>
                      <a:schemeClr val="bg1"/>
                    </a:solidFill>
                    <a:latin typeface="思源黑体 Normal"/>
                    <a:ea typeface="思源黑体 Normal"/>
                  </a:rPr>
                  <a:t>12 - 06 - 2026</a:t>
                </a:r>
                <a:endParaRPr lang="en-US" sz="1100" dirty="0"/>
              </a:p>
            </p:txBody>
          </p:sp>
        </p:grpSp>
      </p:grpSp>
      <p:sp>
        <p:nvSpPr>
          <p:cNvPr id="11" name="TextBox 11"/>
          <p:cNvSpPr txBox="1"/>
          <p:nvPr/>
        </p:nvSpPr>
        <p:spPr>
          <a:xfrm>
            <a:off x="342900" y="1616710"/>
            <a:ext cx="7497445" cy="219583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marL="0" indent="0" algn="l" fontAlgn="auto">
              <a:lnSpc>
                <a:spcPct val="120000"/>
              </a:lnSpc>
              <a:defRPr/>
            </a:pP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15" name="Picture 14" descr="A close up of a logo&#10;&#10;AI-generated content may be incorrect.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0"/>
            <a:ext cx="2185864" cy="85248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EAD68FC1-4BFA-407A-4365-7F29CC754286}"/>
              </a:ext>
            </a:extLst>
          </p:cNvPr>
          <p:cNvSpPr txBox="1"/>
          <p:nvPr/>
        </p:nvSpPr>
        <p:spPr>
          <a:xfrm>
            <a:off x="560592" y="667820"/>
            <a:ext cx="584020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Algerian" panose="04020705040A02060702" pitchFamily="82" charset="0"/>
                <a:ea typeface="ADLaM Display" panose="020F0502020204030204" pitchFamily="2" charset="0"/>
                <a:cs typeface="ADLaM Display" panose="020F0502020204030204" pitchFamily="2" charset="0"/>
              </a:rPr>
              <a:t>STRAVA FITNESS DATA ANALYTICS CASE STUDY</a:t>
            </a:r>
          </a:p>
          <a:p>
            <a:endParaRPr lang="en-IN" sz="4000" dirty="0">
              <a:latin typeface="Algerian" panose="04020705040A02060702" pitchFamily="8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xmlns="" id="{A0843D0B-922E-C7B8-B5D9-A68D941B2080}"/>
              </a:ext>
            </a:extLst>
          </p:cNvPr>
          <p:cNvCxnSpPr>
            <a:cxnSpLocks/>
          </p:cNvCxnSpPr>
          <p:nvPr/>
        </p:nvCxnSpPr>
        <p:spPr>
          <a:xfrm>
            <a:off x="342900" y="2819400"/>
            <a:ext cx="68961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1DD23D13-5774-5780-D57D-5BFEE377F655}"/>
              </a:ext>
            </a:extLst>
          </p:cNvPr>
          <p:cNvSpPr txBox="1"/>
          <p:nvPr/>
        </p:nvSpPr>
        <p:spPr>
          <a:xfrm>
            <a:off x="592992" y="2825047"/>
            <a:ext cx="6094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>
                <a:latin typeface="Aptos Slab Black" panose="020F0502020204030204" pitchFamily="34" charset="0"/>
              </a:rPr>
              <a:t>Bellabeat</a:t>
            </a:r>
            <a:r>
              <a:rPr lang="en-IN" dirty="0">
                <a:latin typeface="Aptos Slab Black" panose="020F0502020204030204" pitchFamily="34" charset="0"/>
              </a:rPr>
              <a:t> Smart Device Usage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alphaModFix amt="89000"/>
          </a:blip>
          <a:stretch>
            <a:fillRect l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1695" y="2551430"/>
            <a:ext cx="2363470" cy="3043555"/>
            <a:chOff x="4393" y="1927"/>
            <a:chExt cx="4061" cy="4531"/>
          </a:xfrm>
        </p:grpSpPr>
        <p:grpSp>
          <p:nvGrpSpPr>
            <p:cNvPr id="3" name="Group 3"/>
            <p:cNvGrpSpPr/>
            <p:nvPr/>
          </p:nvGrpSpPr>
          <p:grpSpPr>
            <a:xfrm>
              <a:off x="4393" y="1927"/>
              <a:ext cx="4061" cy="4531"/>
              <a:chOff x="3846" y="1646"/>
              <a:chExt cx="4061" cy="4531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3846" y="2158"/>
                <a:ext cx="4061" cy="4019"/>
              </a:xfrm>
              <a:prstGeom prst="round2SameRect">
                <a:avLst>
                  <a:gd name="adj1" fmla="val 22391"/>
                  <a:gd name="adj2" fmla="val 0"/>
                </a:avLst>
              </a:prstGeom>
              <a:solidFill>
                <a:srgbClr val="FFFFFF"/>
              </a:solidFill>
              <a:ln>
                <a:solidFill>
                  <a:srgbClr val="1F487C"/>
                </a:solidFill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vert="horz" lIns="91440" tIns="45720" rIns="91440" bIns="45720" anchor="ctr"/>
              <a:lstStyle/>
              <a:p>
                <a:pPr marL="0" algn="ctr"/>
                <a:endParaRPr/>
              </a:p>
            </p:txBody>
          </p:sp>
          <p:sp>
            <p:nvSpPr>
              <p:cNvPr id="5" name="AutoShape 5"/>
              <p:cNvSpPr/>
              <p:nvPr/>
            </p:nvSpPr>
            <p:spPr>
              <a:xfrm>
                <a:off x="5280" y="1646"/>
                <a:ext cx="1379" cy="1193"/>
              </a:xfrm>
              <a:prstGeom prst="ellipse">
                <a:avLst/>
              </a:prstGeom>
              <a:solidFill>
                <a:srgbClr val="1F487C"/>
              </a:solidFill>
              <a:ln>
                <a:noFill/>
              </a:ln>
              <a:effectLst>
                <a:innerShdw blurRad="63500" dist="50800" dir="18900000">
                  <a:srgbClr val="000000">
                    <a:alpha val="50000"/>
                  </a:srgbClr>
                </a:innerShdw>
              </a:effectLst>
            </p:spPr>
            <p:txBody>
              <a:bodyPr vert="horz" lIns="91440" tIns="45720" rIns="91440" bIns="45720" anchor="ctr"/>
              <a:lstStyle/>
              <a:p>
                <a:pPr marL="0" algn="ctr"/>
                <a:endParaRPr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5280" y="1832"/>
                <a:ext cx="1381" cy="818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0" algn="ctr">
                  <a:defRPr/>
                </a:pPr>
                <a:r>
                  <a:rPr lang="en-US" sz="2800" b="0" i="0" u="none" baseline="0">
                    <a:solidFill>
                      <a:schemeClr val="bg1"/>
                    </a:solidFill>
                    <a:latin typeface="思源黑体 Normal"/>
                    <a:ea typeface="思源黑体 Normal"/>
                  </a:rPr>
                  <a:t>01</a:t>
                </a:r>
                <a:endParaRPr lang="en-US" sz="1100"/>
              </a:p>
            </p:txBody>
          </p:sp>
        </p:grpSp>
        <p:sp>
          <p:nvSpPr>
            <p:cNvPr id="7" name="TextBox 7"/>
            <p:cNvSpPr txBox="1"/>
            <p:nvPr/>
          </p:nvSpPr>
          <p:spPr>
            <a:xfrm>
              <a:off x="4394" y="3533"/>
              <a:ext cx="4060" cy="2562"/>
            </a:xfrm>
            <a:prstGeom prst="rect">
              <a:avLst/>
            </a:prstGeom>
            <a:noFill/>
          </p:spPr>
          <p:txBody>
            <a:bodyPr vert="horz" wrap="square" lIns="90170" tIns="107950" rIns="90170" bIns="107950" rtlCol="0" anchor="t">
              <a:noAutofit/>
            </a:bodyPr>
            <a:lstStyle/>
            <a:p>
              <a:pPr marL="0" algn="ctr" fontAlgn="auto">
                <a:lnSpc>
                  <a:spcPct val="100000"/>
                </a:lnSpc>
                <a:defRPr/>
              </a:pPr>
              <a:r>
                <a:rPr lang="en-US" sz="2400" b="1" i="0" u="none" baseline="0">
                  <a:solidFill>
                    <a:srgbClr val="1F487C"/>
                  </a:solidFill>
                  <a:latin typeface="思源黑体 Normal"/>
                  <a:ea typeface="思源黑体 Normal"/>
                </a:rPr>
                <a:t>Project Overview &amp; Scope</a:t>
              </a:r>
              <a:endParaRPr lang="en-US" sz="110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519170" y="2551430"/>
            <a:ext cx="2363470" cy="3043555"/>
            <a:chOff x="4393" y="1927"/>
            <a:chExt cx="4061" cy="4531"/>
          </a:xfrm>
        </p:grpSpPr>
        <p:grpSp>
          <p:nvGrpSpPr>
            <p:cNvPr id="9" name="Group 9"/>
            <p:cNvGrpSpPr/>
            <p:nvPr/>
          </p:nvGrpSpPr>
          <p:grpSpPr>
            <a:xfrm>
              <a:off x="4393" y="1927"/>
              <a:ext cx="4061" cy="4531"/>
              <a:chOff x="3846" y="1646"/>
              <a:chExt cx="4061" cy="4531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3846" y="2158"/>
                <a:ext cx="4061" cy="4019"/>
              </a:xfrm>
              <a:prstGeom prst="round2SameRect">
                <a:avLst>
                  <a:gd name="adj1" fmla="val 22391"/>
                  <a:gd name="adj2" fmla="val 0"/>
                </a:avLst>
              </a:prstGeom>
              <a:solidFill>
                <a:srgbClr val="FFFFFF"/>
              </a:solidFill>
              <a:ln>
                <a:solidFill>
                  <a:srgbClr val="1F487C"/>
                </a:solidFill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vert="horz" lIns="91440" tIns="45720" rIns="91440" bIns="45720" anchor="ctr"/>
              <a:lstStyle/>
              <a:p>
                <a:pPr marL="0" algn="ctr"/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5280" y="1646"/>
                <a:ext cx="1379" cy="1193"/>
              </a:xfrm>
              <a:prstGeom prst="ellipse">
                <a:avLst/>
              </a:prstGeom>
              <a:solidFill>
                <a:srgbClr val="1F487C"/>
              </a:solidFill>
              <a:ln>
                <a:noFill/>
              </a:ln>
              <a:effectLst>
                <a:innerShdw blurRad="63500" dist="50800" dir="18900000">
                  <a:srgbClr val="000000">
                    <a:alpha val="50000"/>
                  </a:srgbClr>
                </a:innerShdw>
              </a:effectLst>
            </p:spPr>
            <p:txBody>
              <a:bodyPr vert="horz" lIns="91440" tIns="45720" rIns="91440" bIns="45720" anchor="ctr"/>
              <a:lstStyle/>
              <a:p>
                <a:pPr marL="0" algn="ctr"/>
                <a:endParaRPr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280" y="1832"/>
                <a:ext cx="1381" cy="818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0" algn="ctr">
                  <a:defRPr/>
                </a:pPr>
                <a:r>
                  <a:rPr lang="en-US" sz="2800" b="0" i="0" u="none" baseline="0">
                    <a:solidFill>
                      <a:schemeClr val="bg1"/>
                    </a:solidFill>
                    <a:latin typeface="思源黑体 Normal"/>
                    <a:ea typeface="思源黑体 Normal"/>
                  </a:rPr>
                  <a:t>02</a:t>
                </a:r>
                <a:endParaRPr lang="en-US" sz="1100"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4394" y="3533"/>
              <a:ext cx="4060" cy="2562"/>
            </a:xfrm>
            <a:prstGeom prst="rect">
              <a:avLst/>
            </a:prstGeom>
            <a:noFill/>
          </p:spPr>
          <p:txBody>
            <a:bodyPr vert="horz" wrap="square" lIns="90170" tIns="107950" rIns="90170" bIns="107950" rtlCol="0" anchor="t">
              <a:noAutofit/>
            </a:bodyPr>
            <a:lstStyle/>
            <a:p>
              <a:pPr marL="0" algn="ctr" fontAlgn="auto">
                <a:lnSpc>
                  <a:spcPct val="100000"/>
                </a:lnSpc>
                <a:defRPr/>
              </a:pPr>
              <a:r>
                <a:rPr lang="en-US" sz="2400" b="1" i="0" u="none" baseline="0">
                  <a:solidFill>
                    <a:srgbClr val="1F487C"/>
                  </a:solidFill>
                  <a:latin typeface="思源黑体 Normal"/>
                  <a:ea typeface="思源黑体 Normal"/>
                </a:rPr>
                <a:t>Data Architecture &amp; Processing</a:t>
              </a:r>
              <a:endParaRPr lang="en-US" sz="110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176645" y="2551430"/>
            <a:ext cx="2363470" cy="3043555"/>
            <a:chOff x="4393" y="1927"/>
            <a:chExt cx="4061" cy="4531"/>
          </a:xfrm>
        </p:grpSpPr>
        <p:grpSp>
          <p:nvGrpSpPr>
            <p:cNvPr id="15" name="Group 15"/>
            <p:cNvGrpSpPr/>
            <p:nvPr/>
          </p:nvGrpSpPr>
          <p:grpSpPr>
            <a:xfrm>
              <a:off x="4393" y="1927"/>
              <a:ext cx="4061" cy="4531"/>
              <a:chOff x="3846" y="1646"/>
              <a:chExt cx="4061" cy="4531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3846" y="2158"/>
                <a:ext cx="4061" cy="4019"/>
              </a:xfrm>
              <a:prstGeom prst="round2SameRect">
                <a:avLst>
                  <a:gd name="adj1" fmla="val 22391"/>
                  <a:gd name="adj2" fmla="val 0"/>
                </a:avLst>
              </a:prstGeom>
              <a:solidFill>
                <a:srgbClr val="FFFFFF"/>
              </a:solidFill>
              <a:ln>
                <a:solidFill>
                  <a:srgbClr val="1F487C"/>
                </a:solidFill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vert="horz" lIns="91440" tIns="45720" rIns="91440" bIns="45720" anchor="ctr"/>
              <a:lstStyle/>
              <a:p>
                <a:pPr marL="0" algn="ctr"/>
                <a:endParaRPr/>
              </a:p>
            </p:txBody>
          </p:sp>
          <p:sp>
            <p:nvSpPr>
              <p:cNvPr id="17" name="AutoShape 17"/>
              <p:cNvSpPr/>
              <p:nvPr/>
            </p:nvSpPr>
            <p:spPr>
              <a:xfrm>
                <a:off x="5280" y="1646"/>
                <a:ext cx="1379" cy="1193"/>
              </a:xfrm>
              <a:prstGeom prst="ellipse">
                <a:avLst/>
              </a:prstGeom>
              <a:solidFill>
                <a:srgbClr val="1F487C"/>
              </a:solidFill>
              <a:ln>
                <a:noFill/>
              </a:ln>
              <a:effectLst>
                <a:innerShdw blurRad="63500" dist="50800" dir="18900000">
                  <a:srgbClr val="000000">
                    <a:alpha val="50000"/>
                  </a:srgbClr>
                </a:innerShdw>
              </a:effectLst>
            </p:spPr>
            <p:txBody>
              <a:bodyPr vert="horz" lIns="91440" tIns="45720" rIns="91440" bIns="45720" anchor="ctr"/>
              <a:lstStyle/>
              <a:p>
                <a:pPr marL="0" algn="ctr"/>
                <a:endParaRPr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280" y="1832"/>
                <a:ext cx="1386" cy="818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0" algn="ctr">
                  <a:defRPr/>
                </a:pPr>
                <a:r>
                  <a:rPr lang="en-US" sz="2800" b="0" i="0" u="none" baseline="0">
                    <a:solidFill>
                      <a:schemeClr val="bg1"/>
                    </a:solidFill>
                    <a:latin typeface="思源黑体 Normal"/>
                    <a:ea typeface="思源黑体 Normal"/>
                  </a:rPr>
                  <a:t>03</a:t>
                </a:r>
                <a:endParaRPr lang="en-US" sz="1100"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4394" y="3533"/>
              <a:ext cx="4060" cy="2562"/>
            </a:xfrm>
            <a:prstGeom prst="rect">
              <a:avLst/>
            </a:prstGeom>
            <a:noFill/>
          </p:spPr>
          <p:txBody>
            <a:bodyPr vert="horz" wrap="square" lIns="90170" tIns="107950" rIns="90170" bIns="107950" rtlCol="0" anchor="t">
              <a:noAutofit/>
            </a:bodyPr>
            <a:lstStyle/>
            <a:p>
              <a:pPr marL="0" algn="ctr" fontAlgn="auto">
                <a:lnSpc>
                  <a:spcPct val="100000"/>
                </a:lnSpc>
                <a:defRPr/>
              </a:pPr>
              <a:r>
                <a:rPr lang="en-US" sz="2400" b="1" i="0" u="none" baseline="0">
                  <a:solidFill>
                    <a:srgbClr val="1F487C"/>
                  </a:solidFill>
                  <a:latin typeface="思源黑体 Normal"/>
                  <a:ea typeface="思源黑体 Normal"/>
                </a:rPr>
                <a:t>Power BI: Model, Measures &amp; Dashboards</a:t>
              </a:r>
              <a:endParaRPr lang="en-US" sz="1100"/>
            </a:p>
          </p:txBody>
        </p:sp>
      </p:grpSp>
      <p:sp>
        <p:nvSpPr>
          <p:cNvPr id="20" name="AutoShape 20"/>
          <p:cNvSpPr/>
          <p:nvPr/>
        </p:nvSpPr>
        <p:spPr>
          <a:xfrm>
            <a:off x="5340609" y="751007"/>
            <a:ext cx="1453097" cy="1489591"/>
          </a:xfrm>
          <a:prstGeom prst="ellipse">
            <a:avLst/>
          </a:prstGeom>
          <a:solidFill>
            <a:srgbClr val="1F487C"/>
          </a:solidFill>
          <a:ln w="53975">
            <a:solidFill>
              <a:schemeClr val="bg1"/>
            </a:solidFill>
          </a:ln>
          <a:effectLst>
            <a:innerShdw blurRad="63500" dist="50800">
              <a:srgbClr val="000000">
                <a:alpha val="50000"/>
              </a:srgbClr>
            </a:innerShdw>
          </a:effectLst>
        </p:spPr>
        <p:txBody>
          <a:bodyPr vert="horz" lIns="91440" tIns="45720" rIns="91440" bIns="45720" anchor="ctr"/>
          <a:lstStyle/>
          <a:p>
            <a:pPr marL="0" algn="ctr"/>
            <a:r>
              <a:rPr lang="zh-CN" altLang="en-US" sz="1600" b="1" i="0" u="none" baseline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思源黑体 Normal"/>
                <a:ea typeface="思源黑体 Normal"/>
              </a:rPr>
              <a:t>Content</a:t>
            </a:r>
            <a:endParaRPr lang="zh-CN" altLang="en-US" sz="1600" b="1" i="0" u="none" baseline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思源黑体 Normal"/>
              <a:ea typeface="思源黑体 Normal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5232400" y="640080"/>
            <a:ext cx="1669148" cy="1711067"/>
          </a:xfrm>
          <a:prstGeom prst="ellipse">
            <a:avLst/>
          </a:prstGeom>
          <a:noFill/>
          <a:ln w="28575">
            <a:solidFill>
              <a:srgbClr val="B7BABD"/>
            </a:solidFill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grpSp>
        <p:nvGrpSpPr>
          <p:cNvPr id="22" name="Group 22"/>
          <p:cNvGrpSpPr/>
          <p:nvPr/>
        </p:nvGrpSpPr>
        <p:grpSpPr>
          <a:xfrm>
            <a:off x="8834120" y="2551430"/>
            <a:ext cx="2363470" cy="3043555"/>
            <a:chOff x="4393" y="1927"/>
            <a:chExt cx="4061" cy="4531"/>
          </a:xfrm>
        </p:grpSpPr>
        <p:grpSp>
          <p:nvGrpSpPr>
            <p:cNvPr id="23" name="Group 23"/>
            <p:cNvGrpSpPr/>
            <p:nvPr/>
          </p:nvGrpSpPr>
          <p:grpSpPr>
            <a:xfrm>
              <a:off x="4393" y="1927"/>
              <a:ext cx="4061" cy="4531"/>
              <a:chOff x="3846" y="1646"/>
              <a:chExt cx="4061" cy="4531"/>
            </a:xfrm>
          </p:grpSpPr>
          <p:sp>
            <p:nvSpPr>
              <p:cNvPr id="24" name="AutoShape 24"/>
              <p:cNvSpPr/>
              <p:nvPr/>
            </p:nvSpPr>
            <p:spPr>
              <a:xfrm>
                <a:off x="3846" y="2158"/>
                <a:ext cx="4061" cy="4019"/>
              </a:xfrm>
              <a:prstGeom prst="round2SameRect">
                <a:avLst>
                  <a:gd name="adj1" fmla="val 22391"/>
                  <a:gd name="adj2" fmla="val 0"/>
                </a:avLst>
              </a:prstGeom>
              <a:solidFill>
                <a:srgbClr val="FFFFFF"/>
              </a:solidFill>
              <a:ln>
                <a:solidFill>
                  <a:srgbClr val="1F487C"/>
                </a:solidFill>
              </a:ln>
              <a:effectLst>
                <a:outerShdw blurRad="50800" dist="38100" dir="2700000" algn="tl" rotWithShape="0">
                  <a:srgbClr val="000000">
                    <a:alpha val="40000"/>
                  </a:srgbClr>
                </a:outerShdw>
              </a:effectLst>
            </p:spPr>
            <p:txBody>
              <a:bodyPr vert="horz" lIns="91440" tIns="45720" rIns="91440" bIns="45720" anchor="ctr"/>
              <a:lstStyle/>
              <a:p>
                <a:pPr marL="0" algn="ctr"/>
                <a:endParaRPr/>
              </a:p>
            </p:txBody>
          </p:sp>
          <p:sp>
            <p:nvSpPr>
              <p:cNvPr id="25" name="AutoShape 25"/>
              <p:cNvSpPr/>
              <p:nvPr/>
            </p:nvSpPr>
            <p:spPr>
              <a:xfrm>
                <a:off x="5280" y="1646"/>
                <a:ext cx="1379" cy="1193"/>
              </a:xfrm>
              <a:prstGeom prst="ellipse">
                <a:avLst/>
              </a:prstGeom>
              <a:solidFill>
                <a:srgbClr val="1F487C"/>
              </a:solidFill>
              <a:ln>
                <a:noFill/>
              </a:ln>
              <a:effectLst>
                <a:innerShdw blurRad="63500" dist="50800" dir="18900000">
                  <a:srgbClr val="000000">
                    <a:alpha val="50000"/>
                  </a:srgbClr>
                </a:innerShdw>
              </a:effectLst>
            </p:spPr>
            <p:txBody>
              <a:bodyPr vert="horz" lIns="91440" tIns="45720" rIns="91440" bIns="45720" anchor="ctr"/>
              <a:lstStyle/>
              <a:p>
                <a:pPr marL="0" algn="ctr"/>
                <a:endParaRPr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280" y="1832"/>
                <a:ext cx="1386" cy="818"/>
              </a:xfrm>
              <a:prstGeom prst="rect">
                <a:avLst/>
              </a:prstGeom>
              <a:noFill/>
            </p:spPr>
            <p:txBody>
              <a:bodyPr vert="horz" wrap="square" lIns="91440" tIns="45720" rIns="91440" bIns="45720" rtlCol="0" anchor="ctr">
                <a:noAutofit/>
              </a:bodyPr>
              <a:lstStyle/>
              <a:p>
                <a:pPr marL="0" algn="ctr">
                  <a:defRPr/>
                </a:pPr>
                <a:r>
                  <a:rPr lang="en-US" sz="2800" b="0" i="0" u="none" baseline="0">
                    <a:solidFill>
                      <a:schemeClr val="bg1"/>
                    </a:solidFill>
                    <a:latin typeface="思源黑体 Normal"/>
                    <a:ea typeface="思源黑体 Normal"/>
                  </a:rPr>
                  <a:t>04</a:t>
                </a:r>
                <a:endParaRPr lang="en-US" sz="1100"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4394" y="3533"/>
              <a:ext cx="4060" cy="2562"/>
            </a:xfrm>
            <a:prstGeom prst="rect">
              <a:avLst/>
            </a:prstGeom>
            <a:noFill/>
          </p:spPr>
          <p:txBody>
            <a:bodyPr vert="horz" wrap="square" lIns="90170" tIns="107950" rIns="90170" bIns="107950" rtlCol="0" anchor="t">
              <a:noAutofit/>
            </a:bodyPr>
            <a:lstStyle/>
            <a:p>
              <a:pPr marL="0" algn="ctr" fontAlgn="auto">
                <a:lnSpc>
                  <a:spcPct val="100000"/>
                </a:lnSpc>
                <a:defRPr/>
              </a:pPr>
              <a:r>
                <a:rPr lang="en-US" sz="2400" b="1" i="0" u="none" baseline="0">
                  <a:solidFill>
                    <a:srgbClr val="1F487C"/>
                  </a:solidFill>
                  <a:latin typeface="思源黑体 Normal"/>
                  <a:ea typeface="思源黑体 Normal"/>
                </a:rPr>
                <a:t>Key Business Insights &amp; Recommendations</a:t>
              </a:r>
              <a:endParaRPr lang="en-US" sz="1100"/>
            </a:p>
          </p:txBody>
        </p:sp>
      </p:grpSp>
      <p:sp>
        <p:nvSpPr>
          <p:cNvPr id="28" name="AutoShape 2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alphaModFix amt="88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9885" y="2245995"/>
            <a:ext cx="6281420" cy="176339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4400" b="1" i="0" u="none" baseline="0">
                <a:solidFill>
                  <a:schemeClr val="bg1"/>
                </a:soli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思源黑体 Medium"/>
                <a:ea typeface="思源黑体 Medium"/>
              </a:rPr>
              <a:t>Project Overview &amp; Scope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flipV="1">
            <a:off x="349885" y="4450080"/>
            <a:ext cx="5942965" cy="16510"/>
          </a:xfrm>
          <a:prstGeom prst="line">
            <a:avLst/>
          </a:prstGeom>
          <a:ln w="28575">
            <a:solidFill>
              <a:srgbClr val="1F497D"/>
            </a:solidFill>
          </a:ln>
        </p:spPr>
      </p:cxnSp>
      <p:grpSp>
        <p:nvGrpSpPr>
          <p:cNvPr id="5" name="Group 5"/>
          <p:cNvGrpSpPr/>
          <p:nvPr/>
        </p:nvGrpSpPr>
        <p:grpSpPr>
          <a:xfrm>
            <a:off x="346710" y="942975"/>
            <a:ext cx="2961005" cy="826770"/>
            <a:chOff x="1341" y="1040"/>
            <a:chExt cx="4663" cy="1302"/>
          </a:xfrm>
        </p:grpSpPr>
        <p:sp>
          <p:nvSpPr>
            <p:cNvPr id="6" name="AutoShape 6"/>
            <p:cNvSpPr/>
            <p:nvPr/>
          </p:nvSpPr>
          <p:spPr>
            <a:xfrm>
              <a:off x="1341" y="1040"/>
              <a:ext cx="4663" cy="1302"/>
            </a:xfrm>
            <a:prstGeom prst="roundRect">
              <a:avLst/>
            </a:prstGeom>
            <a:solidFill>
              <a:srgbClr val="1C4372"/>
            </a:solidFill>
            <a:ln>
              <a:noFill/>
            </a:ln>
          </p:spPr>
          <p:txBody>
            <a:bodyPr vert="horz" lIns="91440" tIns="45720" rIns="91440" bIns="45720" anchor="ctr"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44" y="1059"/>
              <a:ext cx="4330" cy="126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0" indent="0" algn="dist" fontAlgn="auto">
                <a:defRPr/>
              </a:pPr>
              <a:r>
                <a:rPr lang="en-US" sz="4800" b="1" i="0" u="none" baseline="0">
                  <a:solidFill>
                    <a:schemeClr val="bg2"/>
                  </a:solidFill>
                  <a:latin typeface="思源黑体 Medium"/>
                  <a:ea typeface="思源黑体 Medium"/>
                </a:rPr>
                <a:t>part-01</a:t>
              </a:r>
              <a:endParaRPr lang="en-US" sz="1100"/>
            </a:p>
          </p:txBody>
        </p:sp>
      </p:grpSp>
      <p:sp>
        <p:nvSpPr>
          <p:cNvPr id="8" name="AutoShape 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9" name="Picture 8" descr="A close up of a logo&#10;&#10;AI-generated content may be incorrect.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051" y="0"/>
            <a:ext cx="2185864" cy="8524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353D72">
                <a:alpha val="47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47790" y="1684655"/>
            <a:ext cx="5207000" cy="2124000"/>
          </a:xfrm>
          <a:prstGeom prst="roundRect">
            <a:avLst>
              <a:gd name="adj" fmla="val 8000"/>
            </a:avLst>
          </a:prstGeom>
          <a:blipFill rotWithShape="1">
            <a:blip r:embed="rId2"/>
            <a:srcRect/>
            <a:stretch>
              <a:fillRect t="-32871" b="-32476"/>
            </a:stretch>
          </a:blipFill>
          <a:ln cap="flat" cmpd="sng">
            <a:noFill/>
            <a:prstDash val="solid"/>
            <a:miter lim="800000"/>
          </a:ln>
          <a:effectLst>
            <a:outerShdw blurRad="127000" dist="63500" dir="5400000" algn="t" rotWithShape="0">
              <a:schemeClr val="tx2">
                <a:alpha val="20000"/>
              </a:schemeClr>
            </a:outerShdw>
          </a:effectLst>
        </p:spPr>
        <p:txBody>
          <a:bodyPr rot="0"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81050" y="2128085"/>
            <a:ext cx="5435600" cy="169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Understand how users interact with smart fitness devices and identify opportunities to improve user engagement, product adoption, customer retention, wellness experience, and marketing strategy.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81050" y="1684655"/>
            <a:ext cx="543560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80000"/>
              </a:lnSpc>
              <a:defRPr/>
            </a:pPr>
            <a:r>
              <a:rPr lang="en-US" sz="2000" b="1" i="0" u="none" baseline="0">
                <a:solidFill>
                  <a:srgbClr val="1F497D"/>
                </a:solidFill>
                <a:latin typeface="思源黑体 Normal"/>
                <a:ea typeface="思源黑体 Normal"/>
              </a:rPr>
              <a:t>Project Objective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447790" y="3953375"/>
            <a:ext cx="5207000" cy="2124000"/>
          </a:xfrm>
          <a:prstGeom prst="roundRect">
            <a:avLst>
              <a:gd name="adj" fmla="val 8000"/>
            </a:avLst>
          </a:prstGeom>
          <a:blipFill rotWithShape="1">
            <a:blip r:embed="rId3"/>
            <a:srcRect/>
            <a:stretch>
              <a:fillRect t="-33066" b="-32669"/>
            </a:stretch>
          </a:blipFill>
          <a:ln cap="flat" cmpd="sng">
            <a:noFill/>
            <a:prstDash val="solid"/>
            <a:miter lim="800000"/>
          </a:ln>
          <a:effectLst>
            <a:outerShdw blurRad="127000" dist="63500" dir="5400000" algn="t" rotWithShape="0">
              <a:schemeClr val="tx2">
                <a:alpha val="20000"/>
              </a:schemeClr>
            </a:outerShdw>
          </a:effectLst>
        </p:spPr>
        <p:txBody>
          <a:bodyPr rot="0" vert="horz" wrap="square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81050" y="4385375"/>
            <a:ext cx="5435600" cy="169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Data collection from Fitbit trackers → SQL data cleaning and validation → Python exploratory analysis → Power BI dashboard visualization → Business insights → Strategic recommendations.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1050" y="3953375"/>
            <a:ext cx="5435600" cy="432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80000"/>
              </a:lnSpc>
              <a:defRPr/>
            </a:pPr>
            <a:r>
              <a:rPr lang="en-US" sz="2000" b="1" i="0" u="none" baseline="0">
                <a:solidFill>
                  <a:srgbClr val="1F497D"/>
                </a:solidFill>
                <a:latin typeface="思源黑体 Normal"/>
                <a:ea typeface="思源黑体 Normal"/>
              </a:rPr>
              <a:t>End-to-End Analytics Workflow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781050" y="33083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Data-Driven Strategy for Bellabeat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353D72">
                <a:alpha val="47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12787" y="1479357"/>
            <a:ext cx="10804527" cy="2221736"/>
          </a:xfrm>
          <a:prstGeom prst="plaque">
            <a:avLst>
              <a:gd name="adj" fmla="val 9919"/>
            </a:avLst>
          </a:prstGeom>
          <a:solidFill>
            <a:srgbClr val="FFFFFF"/>
          </a:solidFill>
          <a:ln>
            <a:solidFill>
              <a:srgbClr val="1F497D"/>
            </a:solidFill>
          </a:ln>
          <a:effectLst>
            <a:outerShdw blurRad="190500" dist="127000" dir="2700000" sx="95000" sy="95000" algn="tl" rotWithShape="0">
              <a:schemeClr val="accent1">
                <a:alpha val="10000"/>
              </a:schemeClr>
            </a:outerShdw>
          </a:effectLst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807430" y="1599407"/>
            <a:ext cx="10614821" cy="1982147"/>
          </a:xfrm>
          <a:prstGeom prst="plaque">
            <a:avLst>
              <a:gd name="adj" fmla="val 9919"/>
            </a:avLst>
          </a:prstGeom>
          <a:solidFill>
            <a:srgbClr val="FFFFFF"/>
          </a:solidFill>
          <a:ln>
            <a:solidFill>
              <a:srgbClr val="1F497D">
                <a:alpha val="50000"/>
              </a:srgbClr>
            </a:solidFill>
          </a:ln>
          <a:effectLst/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cxnSp>
        <p:nvCxnSpPr>
          <p:cNvPr id="4" name="Connector 4"/>
          <p:cNvCxnSpPr/>
          <p:nvPr/>
        </p:nvCxnSpPr>
        <p:spPr>
          <a:xfrm>
            <a:off x="3514596" y="1977979"/>
            <a:ext cx="0" cy="1224360"/>
          </a:xfrm>
          <a:prstGeom prst="line">
            <a:avLst/>
          </a:prstGeom>
          <a:ln w="9525">
            <a:solidFill>
              <a:srgbClr val="1F497D"/>
            </a:solidFill>
          </a:ln>
        </p:spPr>
      </p:cxnSp>
      <p:sp>
        <p:nvSpPr>
          <p:cNvPr id="5" name="AutoShape 5"/>
          <p:cNvSpPr/>
          <p:nvPr/>
        </p:nvSpPr>
        <p:spPr>
          <a:xfrm>
            <a:off x="712787" y="4041065"/>
            <a:ext cx="10804527" cy="2221736"/>
          </a:xfrm>
          <a:prstGeom prst="plaque">
            <a:avLst>
              <a:gd name="adj" fmla="val 9919"/>
            </a:avLst>
          </a:prstGeom>
          <a:solidFill>
            <a:srgbClr val="FFFFFF"/>
          </a:solidFill>
          <a:ln>
            <a:solidFill>
              <a:srgbClr val="1F497D"/>
            </a:solidFill>
          </a:ln>
          <a:effectLst>
            <a:outerShdw blurRad="190500" dist="127000" dir="2700000" sx="95000" sy="95000" algn="tl" rotWithShape="0">
              <a:schemeClr val="accent1">
                <a:alpha val="10000"/>
              </a:schemeClr>
            </a:outerShdw>
          </a:effectLst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07430" y="4160481"/>
            <a:ext cx="10614821" cy="1982147"/>
          </a:xfrm>
          <a:prstGeom prst="plaque">
            <a:avLst>
              <a:gd name="adj" fmla="val 9919"/>
            </a:avLst>
          </a:prstGeom>
          <a:noFill/>
          <a:ln>
            <a:solidFill>
              <a:srgbClr val="1F497D">
                <a:alpha val="50000"/>
              </a:srgbClr>
            </a:solidFill>
          </a:ln>
          <a:effectLst/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cxnSp>
        <p:nvCxnSpPr>
          <p:cNvPr id="7" name="Connector 7"/>
          <p:cNvCxnSpPr/>
          <p:nvPr/>
        </p:nvCxnSpPr>
        <p:spPr>
          <a:xfrm>
            <a:off x="3514596" y="4539687"/>
            <a:ext cx="0" cy="1224360"/>
          </a:xfrm>
          <a:prstGeom prst="line">
            <a:avLst/>
          </a:prstGeom>
          <a:ln w="9525">
            <a:solidFill>
              <a:srgbClr val="1F497D"/>
            </a:solidFill>
          </a:ln>
        </p:spPr>
      </p:cxnSp>
      <p:sp>
        <p:nvSpPr>
          <p:cNvPr id="8" name="TextBox 8"/>
          <p:cNvSpPr txBox="1"/>
          <p:nvPr/>
        </p:nvSpPr>
        <p:spPr>
          <a:xfrm>
            <a:off x="1047115" y="1820000"/>
            <a:ext cx="2160000" cy="14400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1F497D"/>
                </a:solidFill>
                <a:latin typeface="思源黑体 Normal"/>
                <a:ea typeface="思源黑体 Normal"/>
              </a:rPr>
              <a:t>Data Sources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1047115" y="4415155"/>
            <a:ext cx="2160000" cy="144000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ctr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1F497D"/>
                </a:solidFill>
                <a:latin typeface="思源黑体 Normal"/>
                <a:ea typeface="思源黑体 Normal"/>
              </a:rPr>
              <a:t>Data Granularity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822065" y="1765935"/>
            <a:ext cx="7308215" cy="1548130"/>
          </a:xfrm>
          <a:prstGeom prst="rect">
            <a:avLst/>
          </a:prstGeom>
          <a:noFill/>
        </p:spPr>
        <p:txBody>
          <a:bodyPr vert="horz" wrap="square" lIns="90170" tIns="46990" rIns="90170" bIns="46990" anchor="ctr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18 CSV files covering daily, hourly, minute-level activity, sleep, heart rate, and weight &amp; BMI data for 33 users. Daily datasets include steps, calories, intensities; hourly datasets track granular trends; minute-level data support deep behavioral analysis.</a:t>
            </a:r>
          </a:p>
        </p:txBody>
      </p:sp>
      <p:sp>
        <p:nvSpPr>
          <p:cNvPr id="11" name="AutoShape 11"/>
          <p:cNvSpPr/>
          <p:nvPr/>
        </p:nvSpPr>
        <p:spPr>
          <a:xfrm>
            <a:off x="3822065" y="4361090"/>
            <a:ext cx="7308215" cy="1548130"/>
          </a:xfrm>
          <a:prstGeom prst="rect">
            <a:avLst/>
          </a:prstGeom>
          <a:noFill/>
        </p:spPr>
        <p:txBody>
          <a:bodyPr vert="horz" wrap="square" lIns="90170" tIns="46990" rIns="90170" bIns="46990" anchor="ctr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Multiple time resolutions (daily, hourly, minute-level) enable cross-dimensional analysis of user behavior patterns, from macro engagement trends to micro activity spikes.</a:t>
            </a:r>
          </a:p>
        </p:txBody>
      </p:sp>
      <p:sp>
        <p:nvSpPr>
          <p:cNvPr id="12" name="Freeform 12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Dataset Characteristics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alphaModFix amt="88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9885" y="2245995"/>
            <a:ext cx="6281420" cy="176339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4400" b="1" i="0" u="none" baseline="0">
                <a:solidFill>
                  <a:schemeClr val="bg1"/>
                </a:soli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思源黑体 Medium"/>
                <a:ea typeface="思源黑体 Medium"/>
              </a:rPr>
              <a:t>Data Architecture &amp; Processing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flipV="1">
            <a:off x="349885" y="4450080"/>
            <a:ext cx="5942965" cy="16510"/>
          </a:xfrm>
          <a:prstGeom prst="line">
            <a:avLst/>
          </a:prstGeom>
          <a:ln w="28575">
            <a:solidFill>
              <a:srgbClr val="1F497D"/>
            </a:solidFill>
          </a:ln>
        </p:spPr>
      </p:cxnSp>
      <p:grpSp>
        <p:nvGrpSpPr>
          <p:cNvPr id="5" name="Group 5"/>
          <p:cNvGrpSpPr/>
          <p:nvPr/>
        </p:nvGrpSpPr>
        <p:grpSpPr>
          <a:xfrm>
            <a:off x="346710" y="942975"/>
            <a:ext cx="2961005" cy="826770"/>
            <a:chOff x="1341" y="1040"/>
            <a:chExt cx="4663" cy="1302"/>
          </a:xfrm>
        </p:grpSpPr>
        <p:sp>
          <p:nvSpPr>
            <p:cNvPr id="6" name="AutoShape 6"/>
            <p:cNvSpPr/>
            <p:nvPr/>
          </p:nvSpPr>
          <p:spPr>
            <a:xfrm>
              <a:off x="1341" y="1040"/>
              <a:ext cx="4663" cy="1302"/>
            </a:xfrm>
            <a:prstGeom prst="roundRect">
              <a:avLst/>
            </a:prstGeom>
            <a:solidFill>
              <a:srgbClr val="1C4372"/>
            </a:solidFill>
            <a:ln>
              <a:noFill/>
            </a:ln>
          </p:spPr>
          <p:txBody>
            <a:bodyPr vert="horz" lIns="91440" tIns="45720" rIns="91440" bIns="45720" anchor="ctr"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44" y="1059"/>
              <a:ext cx="4330" cy="126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0" indent="0" algn="dist" fontAlgn="auto">
                <a:defRPr/>
              </a:pPr>
              <a:r>
                <a:rPr lang="en-US" sz="4800" b="1" i="0" u="none" baseline="0">
                  <a:solidFill>
                    <a:schemeClr val="bg2"/>
                  </a:solidFill>
                  <a:latin typeface="思源黑体 Medium"/>
                  <a:ea typeface="思源黑体 Medium"/>
                </a:rPr>
                <a:t>part-02</a:t>
              </a:r>
              <a:endParaRPr lang="en-US" sz="1100"/>
            </a:p>
          </p:txBody>
        </p:sp>
      </p:grpSp>
      <p:sp>
        <p:nvSpPr>
          <p:cNvPr id="8" name="AutoShape 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9" name="Picture 8" descr="A close up of a logo&#10;&#10;AI-generated content may be incorrect.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0"/>
            <a:ext cx="2185864" cy="8524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353D72">
                <a:alpha val="47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71260" y="2123440"/>
            <a:ext cx="594995" cy="3058160"/>
            <a:chOff x="6585505" y="2533197"/>
            <a:chExt cx="595086" cy="3058431"/>
          </a:xfrm>
        </p:grpSpPr>
        <p:sp>
          <p:nvSpPr>
            <p:cNvPr id="3" name="AutoShape 3"/>
            <p:cNvSpPr/>
            <p:nvPr/>
          </p:nvSpPr>
          <p:spPr>
            <a:xfrm>
              <a:off x="6585505" y="2533197"/>
              <a:ext cx="595086" cy="595086"/>
            </a:xfrm>
            <a:prstGeom prst="ellipse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50000">
                  <a:schemeClr val="accent2"/>
                </a:gs>
              </a:gsLst>
              <a:lin ang="2700000"/>
            </a:gradFill>
            <a:ln>
              <a:noFill/>
            </a:ln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r>
                <a:rPr lang="en-US" sz="1634" b="1" i="0" u="none" baseline="0">
                  <a:solidFill>
                    <a:schemeClr val="lt1"/>
                  </a:solidFill>
                  <a:latin typeface="思源黑体 Normal"/>
                  <a:ea typeface="思源黑体 Normal"/>
                </a:rPr>
                <a:t>02</a:t>
              </a:r>
            </a:p>
          </p:txBody>
        </p:sp>
        <p:cxnSp>
          <p:nvCxnSpPr>
            <p:cNvPr id="4" name="Connector 4"/>
            <p:cNvCxnSpPr/>
            <p:nvPr/>
          </p:nvCxnSpPr>
          <p:spPr>
            <a:xfrm>
              <a:off x="6883048" y="3128283"/>
              <a:ext cx="0" cy="2370817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</p:cxnSp>
        <p:sp>
          <p:nvSpPr>
            <p:cNvPr id="5" name="AutoShape 5"/>
            <p:cNvSpPr/>
            <p:nvPr/>
          </p:nvSpPr>
          <p:spPr>
            <a:xfrm>
              <a:off x="6837591" y="5499102"/>
              <a:ext cx="92526" cy="9252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0170" tIns="46990" rIns="90170" bIns="4699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SQL Database Setup &amp; Cleaning</a:t>
            </a:r>
            <a:endParaRPr lang="en-US" sz="1100"/>
          </a:p>
        </p:txBody>
      </p:sp>
      <p:grpSp>
        <p:nvGrpSpPr>
          <p:cNvPr id="8" name="Group 8"/>
          <p:cNvGrpSpPr/>
          <p:nvPr/>
        </p:nvGrpSpPr>
        <p:grpSpPr>
          <a:xfrm>
            <a:off x="474345" y="2123440"/>
            <a:ext cx="594995" cy="3058160"/>
            <a:chOff x="6585505" y="2533197"/>
            <a:chExt cx="595086" cy="3058431"/>
          </a:xfrm>
        </p:grpSpPr>
        <p:sp>
          <p:nvSpPr>
            <p:cNvPr id="9" name="AutoShape 9"/>
            <p:cNvSpPr/>
            <p:nvPr/>
          </p:nvSpPr>
          <p:spPr>
            <a:xfrm>
              <a:off x="6585505" y="2533197"/>
              <a:ext cx="595086" cy="595086"/>
            </a:xfrm>
            <a:prstGeom prst="ellipse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50000">
                  <a:schemeClr val="accent2"/>
                </a:gs>
              </a:gsLst>
              <a:lin ang="2700000"/>
            </a:gradFill>
            <a:ln>
              <a:noFill/>
            </a:ln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r>
                <a:rPr lang="en-US" sz="1634" b="1" i="0" u="none" baseline="0">
                  <a:solidFill>
                    <a:schemeClr val="lt1"/>
                  </a:solidFill>
                  <a:latin typeface="思源黑体 Normal"/>
                  <a:ea typeface="思源黑体 Normal"/>
                </a:rPr>
                <a:t>01</a:t>
              </a:r>
            </a:p>
          </p:txBody>
        </p:sp>
        <p:cxnSp>
          <p:nvCxnSpPr>
            <p:cNvPr id="10" name="Connector 10"/>
            <p:cNvCxnSpPr/>
            <p:nvPr/>
          </p:nvCxnSpPr>
          <p:spPr>
            <a:xfrm>
              <a:off x="6883048" y="3128283"/>
              <a:ext cx="0" cy="2370817"/>
            </a:xfrm>
            <a:prstGeom prst="line">
              <a:avLst/>
            </a:prstGeom>
            <a:ln w="9525">
              <a:solidFill>
                <a:schemeClr val="accent2"/>
              </a:solidFill>
            </a:ln>
          </p:spPr>
        </p:cxnSp>
        <p:sp>
          <p:nvSpPr>
            <p:cNvPr id="11" name="AutoShape 11"/>
            <p:cNvSpPr/>
            <p:nvPr/>
          </p:nvSpPr>
          <p:spPr>
            <a:xfrm>
              <a:off x="6837591" y="5499102"/>
              <a:ext cx="92526" cy="92526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0170" tIns="46990" rIns="90170" bIns="46990" anchor="ctr">
              <a:normAutofit fontScale="25000" lnSpcReduction="20000"/>
            </a:bodyPr>
            <a:lstStyle/>
            <a:p>
              <a:pPr marL="0" algn="ctr"/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69340" y="2585085"/>
            <a:ext cx="4860290" cy="54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defRPr/>
            </a:pPr>
            <a:r>
              <a:rPr lang="en-US" sz="2000" b="1" i="0" u="none" baseline="0">
                <a:solidFill>
                  <a:srgbClr val="1F497D"/>
                </a:solidFill>
                <a:latin typeface="思源黑体 Normal"/>
                <a:ea typeface="思源黑体 Normal"/>
              </a:rPr>
              <a:t>Database Structure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1065530" y="3136265"/>
            <a:ext cx="4860290" cy="204597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Imported 10 core tables into `bellabeat_analysis` database in MySQL, including dailyActivity, sleepDay, hourlyCalories, heartrate_seconds, etc.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6870065" y="2585085"/>
            <a:ext cx="4860290" cy="54000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defRPr/>
            </a:pPr>
            <a:r>
              <a:rPr lang="en-US" sz="2000" b="1" i="0" u="none" baseline="0">
                <a:solidFill>
                  <a:srgbClr val="1F497D"/>
                </a:solidFill>
                <a:latin typeface="思源黑体 Normal"/>
                <a:ea typeface="思源黑体 Normal"/>
              </a:rPr>
              <a:t>SQL Tasks Performed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6866255" y="3136265"/>
            <a:ext cx="4860290" cy="204597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Record count validation, duplicate detection, missing value analysis, data cleaning, data validation, and aggregation queries to ensure data integrity.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353D72">
                <a:alpha val="47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715645" y="4505960"/>
            <a:ext cx="5078095" cy="0"/>
          </a:xfrm>
          <a:prstGeom prst="line">
            <a:avLst/>
          </a:prstGeom>
          <a:ln w="9525">
            <a:solidFill>
              <a:srgbClr val="1F497D"/>
            </a:solidFill>
          </a:ln>
        </p:spPr>
      </p:cxnSp>
      <p:pic>
        <p:nvPicPr>
          <p:cNvPr id="3" name="image8.jpeg"/>
          <p:cNvPicPr>
            <a:picLocks noChangeAspect="1"/>
          </p:cNvPicPr>
          <p:nvPr/>
        </p:nvPicPr>
        <p:blipFill>
          <a:blip r:embed="rId2"/>
          <a:srcRect t="14663" b="14663"/>
          <a:stretch>
            <a:fillRect/>
          </a:stretch>
        </p:blipFill>
        <p:spPr>
          <a:xfrm>
            <a:off x="714375" y="1350645"/>
            <a:ext cx="5064760" cy="2388235"/>
          </a:xfrm>
          <a:prstGeom prst="roundRect">
            <a:avLst>
              <a:gd name="adj" fmla="val 9726"/>
            </a:avLst>
          </a:prstGeom>
          <a:ln w="3175" cap="flat" cmpd="sng">
            <a:solidFill>
              <a:schemeClr val="tx1">
                <a:alpha val="20000"/>
                <a:lumMod val="40000"/>
                <a:lumOff val="60000"/>
              </a:schemeClr>
            </a:solidFill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646430" y="3968115"/>
            <a:ext cx="637540" cy="540000"/>
          </a:xfrm>
          <a:prstGeom prst="rect">
            <a:avLst/>
          </a:prstGeom>
          <a:noFill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400" b="1" i="0" u="none" baseline="0">
                <a:solidFill>
                  <a:srgbClr val="1F497D"/>
                </a:solidFill>
                <a:latin typeface="思源黑体 Normal"/>
                <a:ea typeface="思源黑体 Normal"/>
              </a:rPr>
              <a:t>01</a:t>
            </a:r>
          </a:p>
        </p:txBody>
      </p:sp>
      <p:cxnSp>
        <p:nvCxnSpPr>
          <p:cNvPr id="5" name="Connector 5"/>
          <p:cNvCxnSpPr/>
          <p:nvPr/>
        </p:nvCxnSpPr>
        <p:spPr>
          <a:xfrm>
            <a:off x="6448425" y="4505960"/>
            <a:ext cx="5066030" cy="0"/>
          </a:xfrm>
          <a:prstGeom prst="line">
            <a:avLst/>
          </a:prstGeom>
          <a:ln w="9525">
            <a:solidFill>
              <a:srgbClr val="1F497D"/>
            </a:solidFill>
          </a:ln>
        </p:spPr>
      </p:cxnSp>
      <p:pic>
        <p:nvPicPr>
          <p:cNvPr id="6" name="image9.jpeg"/>
          <p:cNvPicPr>
            <a:picLocks noChangeAspect="1"/>
          </p:cNvPicPr>
          <p:nvPr/>
        </p:nvPicPr>
        <p:blipFill>
          <a:blip r:embed="rId3"/>
          <a:srcRect t="14672" b="14672"/>
          <a:stretch>
            <a:fillRect/>
          </a:stretch>
        </p:blipFill>
        <p:spPr>
          <a:xfrm>
            <a:off x="6448425" y="1350645"/>
            <a:ext cx="5066030" cy="2388235"/>
          </a:xfrm>
          <a:prstGeom prst="roundRect">
            <a:avLst>
              <a:gd name="adj" fmla="val 9726"/>
            </a:avLst>
          </a:prstGeom>
          <a:ln w="3175" cap="flat" cmpd="sng">
            <a:solidFill>
              <a:schemeClr val="tx1">
                <a:alpha val="20000"/>
                <a:lumMod val="40000"/>
                <a:lumOff val="60000"/>
              </a:schemeClr>
            </a:solidFill>
            <a:prstDash val="solid"/>
          </a:ln>
        </p:spPr>
      </p:pic>
      <p:sp>
        <p:nvSpPr>
          <p:cNvPr id="7" name="AutoShape 7"/>
          <p:cNvSpPr/>
          <p:nvPr/>
        </p:nvSpPr>
        <p:spPr>
          <a:xfrm>
            <a:off x="6448425" y="4532630"/>
            <a:ext cx="5066030" cy="1866265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Physical activity levels are strongly correlated with calorie expenditure and overall user engagement, confirming activity as a primary engagement driver.</a:t>
            </a:r>
          </a:p>
        </p:txBody>
      </p:sp>
      <p:sp>
        <p:nvSpPr>
          <p:cNvPr id="8" name="AutoShape 8"/>
          <p:cNvSpPr/>
          <p:nvPr/>
        </p:nvSpPr>
        <p:spPr>
          <a:xfrm>
            <a:off x="6329045" y="3968115"/>
            <a:ext cx="637540" cy="539750"/>
          </a:xfrm>
          <a:prstGeom prst="rect">
            <a:avLst/>
          </a:prstGeom>
          <a:noFill/>
        </p:spPr>
        <p:txBody>
          <a:bodyPr vert="horz" wrap="square" lIns="90170" tIns="46990" rIns="90170" bIns="46990" anchor="ctr">
            <a:normAutofit/>
          </a:bodyPr>
          <a:lstStyle/>
          <a:p>
            <a:pPr marL="0" algn="ctr">
              <a:spcBef>
                <a:spcPct val="0"/>
              </a:spcBef>
              <a:spcAft>
                <a:spcPct val="0"/>
              </a:spcAft>
            </a:pPr>
            <a:r>
              <a:rPr lang="en-US" sz="2400" b="1" i="0" u="none" baseline="0">
                <a:solidFill>
                  <a:srgbClr val="1F497D"/>
                </a:solidFill>
                <a:latin typeface="思源黑体 Normal"/>
                <a:ea typeface="思源黑体 Normal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80860" y="3968115"/>
            <a:ext cx="4632960" cy="53975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2000" b="1" i="0" u="none" baseline="0">
                <a:solidFill>
                  <a:srgbClr val="1F497D"/>
                </a:solidFill>
                <a:latin typeface="思源黑体 Normal"/>
                <a:ea typeface="思源黑体 Normal"/>
              </a:rPr>
              <a:t>Core Finding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14375" y="4532630"/>
            <a:ext cx="5064760" cy="1866265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Daily activity analysis, calorie expenditure analysis, sleep analysis, user ranking, activity segmentation, and hourly trend analysis.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6810" y="3968115"/>
            <a:ext cx="4632325" cy="53975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2000" b="1" i="0" u="none" baseline="0">
                <a:solidFill>
                  <a:srgbClr val="1F497D"/>
                </a:solidFill>
                <a:latin typeface="思源黑体 Normal"/>
                <a:ea typeface="思源黑体 Normal"/>
              </a:rPr>
              <a:t>Key Analytical Dimensions</a:t>
            </a:r>
            <a:endParaRPr lang="en-US" sz="1100"/>
          </a:p>
        </p:txBody>
      </p:sp>
      <p:sp>
        <p:nvSpPr>
          <p:cNvPr id="12" name="Freeform 12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TextBox 13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SQL Business Analysis Insights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353D72">
                <a:alpha val="47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6165215" y="1731645"/>
            <a:ext cx="0" cy="4116705"/>
          </a:xfrm>
          <a:prstGeom prst="line">
            <a:avLst/>
          </a:prstGeom>
          <a:ln w="9525">
            <a:solidFill>
              <a:srgbClr val="1F497D"/>
            </a:solidFill>
          </a:ln>
        </p:spPr>
      </p:cxnSp>
      <p:sp>
        <p:nvSpPr>
          <p:cNvPr id="3" name="AutoShape 3"/>
          <p:cNvSpPr/>
          <p:nvPr/>
        </p:nvSpPr>
        <p:spPr>
          <a:xfrm>
            <a:off x="660400" y="1731645"/>
            <a:ext cx="4895850" cy="1656715"/>
          </a:xfrm>
          <a:prstGeom prst="roundRect">
            <a:avLst>
              <a:gd name="adj" fmla="val 6867"/>
            </a:avLst>
          </a:prstGeom>
          <a:blipFill rotWithShape="1">
            <a:blip r:embed="rId2"/>
            <a:stretch>
              <a:fillRect l="35" t="-45419" r="-35" b="-46581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grpSp>
        <p:nvGrpSpPr>
          <p:cNvPr id="4" name="Group 4"/>
          <p:cNvGrpSpPr/>
          <p:nvPr/>
        </p:nvGrpSpPr>
        <p:grpSpPr>
          <a:xfrm>
            <a:off x="2809875" y="3051175"/>
            <a:ext cx="673735" cy="673735"/>
            <a:chOff x="1919536" y="2739155"/>
            <a:chExt cx="504056" cy="504056"/>
          </a:xfrm>
        </p:grpSpPr>
        <p:sp>
          <p:nvSpPr>
            <p:cNvPr id="5" name="AutoShape 5"/>
            <p:cNvSpPr/>
            <p:nvPr/>
          </p:nvSpPr>
          <p:spPr>
            <a:xfrm>
              <a:off x="1919536" y="2739155"/>
              <a:ext cx="504056" cy="504056"/>
            </a:xfrm>
            <a:prstGeom prst="ellipse">
              <a:avLst/>
            </a:prstGeom>
            <a:solidFill>
              <a:srgbClr val="1F497D"/>
            </a:solidFill>
            <a:ln w="25400">
              <a:solidFill>
                <a:srgbClr val="FFFFFF"/>
              </a:solidFill>
            </a:ln>
          </p:spPr>
          <p:txBody>
            <a:bodyPr vert="horz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>
              <a:off x="2043203" y="2868766"/>
              <a:ext cx="256722" cy="244834"/>
            </a:xfrm>
            <a:custGeom>
              <a:avLst/>
              <a:gdLst/>
              <a:ahLst/>
              <a:cxnLst/>
              <a:rect l="l" t="t" r="r" b="b"/>
              <a:pathLst>
                <a:path w="607639" h="579502">
                  <a:moveTo>
                    <a:pt x="315778" y="173080"/>
                  </a:moveTo>
                  <a:lnTo>
                    <a:pt x="315778" y="266058"/>
                  </a:lnTo>
                  <a:cubicBezTo>
                    <a:pt x="315778" y="272814"/>
                    <a:pt x="310258" y="278325"/>
                    <a:pt x="303493" y="278325"/>
                  </a:cubicBezTo>
                  <a:lnTo>
                    <a:pt x="210375" y="278325"/>
                  </a:lnTo>
                  <a:cubicBezTo>
                    <a:pt x="216429" y="324281"/>
                    <a:pt x="255866" y="359925"/>
                    <a:pt x="303493" y="359925"/>
                  </a:cubicBezTo>
                  <a:cubicBezTo>
                    <a:pt x="355303" y="359925"/>
                    <a:pt x="397500" y="317792"/>
                    <a:pt x="397500" y="266058"/>
                  </a:cubicBezTo>
                  <a:cubicBezTo>
                    <a:pt x="397500" y="218502"/>
                    <a:pt x="361802" y="179124"/>
                    <a:pt x="315778" y="173080"/>
                  </a:cubicBezTo>
                  <a:close/>
                  <a:moveTo>
                    <a:pt x="249814" y="160816"/>
                  </a:moveTo>
                  <a:cubicBezTo>
                    <a:pt x="223740" y="165793"/>
                    <a:pt x="203093" y="186410"/>
                    <a:pt x="198110" y="212449"/>
                  </a:cubicBezTo>
                  <a:lnTo>
                    <a:pt x="249814" y="212449"/>
                  </a:lnTo>
                  <a:close/>
                  <a:moveTo>
                    <a:pt x="303493" y="147835"/>
                  </a:moveTo>
                  <a:cubicBezTo>
                    <a:pt x="368835" y="147835"/>
                    <a:pt x="421981" y="200902"/>
                    <a:pt x="421981" y="266058"/>
                  </a:cubicBezTo>
                  <a:cubicBezTo>
                    <a:pt x="421981" y="331303"/>
                    <a:pt x="368835" y="384370"/>
                    <a:pt x="303493" y="384370"/>
                  </a:cubicBezTo>
                  <a:cubicBezTo>
                    <a:pt x="238239" y="384370"/>
                    <a:pt x="185093" y="331303"/>
                    <a:pt x="185093" y="266058"/>
                  </a:cubicBezTo>
                  <a:cubicBezTo>
                    <a:pt x="185093" y="259303"/>
                    <a:pt x="190523" y="253880"/>
                    <a:pt x="197289" y="253880"/>
                  </a:cubicBezTo>
                  <a:lnTo>
                    <a:pt x="291297" y="253880"/>
                  </a:lnTo>
                  <a:lnTo>
                    <a:pt x="291297" y="160013"/>
                  </a:lnTo>
                  <a:cubicBezTo>
                    <a:pt x="291297" y="153257"/>
                    <a:pt x="296727" y="147835"/>
                    <a:pt x="303493" y="147835"/>
                  </a:cubicBezTo>
                  <a:close/>
                  <a:moveTo>
                    <a:pt x="262095" y="135133"/>
                  </a:moveTo>
                  <a:cubicBezTo>
                    <a:pt x="268859" y="135133"/>
                    <a:pt x="274287" y="140643"/>
                    <a:pt x="274287" y="147397"/>
                  </a:cubicBezTo>
                  <a:lnTo>
                    <a:pt x="274287" y="224713"/>
                  </a:lnTo>
                  <a:cubicBezTo>
                    <a:pt x="274287" y="231467"/>
                    <a:pt x="268859" y="236888"/>
                    <a:pt x="262095" y="236888"/>
                  </a:cubicBezTo>
                  <a:lnTo>
                    <a:pt x="184672" y="236888"/>
                  </a:lnTo>
                  <a:cubicBezTo>
                    <a:pt x="177909" y="236888"/>
                    <a:pt x="172391" y="231467"/>
                    <a:pt x="172391" y="224713"/>
                  </a:cubicBezTo>
                  <a:cubicBezTo>
                    <a:pt x="172391" y="175302"/>
                    <a:pt x="212616" y="135133"/>
                    <a:pt x="262095" y="135133"/>
                  </a:cubicBezTo>
                  <a:close/>
                  <a:moveTo>
                    <a:pt x="58120" y="108514"/>
                  </a:moveTo>
                  <a:lnTo>
                    <a:pt x="58120" y="413970"/>
                  </a:lnTo>
                  <a:lnTo>
                    <a:pt x="549430" y="413970"/>
                  </a:lnTo>
                  <a:lnTo>
                    <a:pt x="549430" y="108514"/>
                  </a:lnTo>
                  <a:close/>
                  <a:moveTo>
                    <a:pt x="27236" y="56079"/>
                  </a:moveTo>
                  <a:lnTo>
                    <a:pt x="27236" y="81319"/>
                  </a:lnTo>
                  <a:lnTo>
                    <a:pt x="580403" y="81319"/>
                  </a:lnTo>
                  <a:lnTo>
                    <a:pt x="580403" y="56079"/>
                  </a:lnTo>
                  <a:close/>
                  <a:moveTo>
                    <a:pt x="303775" y="0"/>
                  </a:moveTo>
                  <a:cubicBezTo>
                    <a:pt x="311341" y="0"/>
                    <a:pt x="317393" y="6132"/>
                    <a:pt x="317393" y="13597"/>
                  </a:cubicBezTo>
                  <a:lnTo>
                    <a:pt x="317393" y="28884"/>
                  </a:lnTo>
                  <a:lnTo>
                    <a:pt x="580403" y="28884"/>
                  </a:lnTo>
                  <a:cubicBezTo>
                    <a:pt x="595356" y="28884"/>
                    <a:pt x="607639" y="41148"/>
                    <a:pt x="607639" y="56079"/>
                  </a:cubicBezTo>
                  <a:lnTo>
                    <a:pt x="607639" y="81319"/>
                  </a:lnTo>
                  <a:cubicBezTo>
                    <a:pt x="607639" y="96338"/>
                    <a:pt x="595356" y="108514"/>
                    <a:pt x="580403" y="108514"/>
                  </a:cubicBezTo>
                  <a:lnTo>
                    <a:pt x="576665" y="108514"/>
                  </a:lnTo>
                  <a:lnTo>
                    <a:pt x="576665" y="413970"/>
                  </a:lnTo>
                  <a:cubicBezTo>
                    <a:pt x="576665" y="428990"/>
                    <a:pt x="564472" y="441165"/>
                    <a:pt x="549430" y="441165"/>
                  </a:cubicBezTo>
                  <a:lnTo>
                    <a:pt x="317393" y="441165"/>
                  </a:lnTo>
                  <a:lnTo>
                    <a:pt x="317393" y="481069"/>
                  </a:lnTo>
                  <a:lnTo>
                    <a:pt x="418236" y="554923"/>
                  </a:lnTo>
                  <a:cubicBezTo>
                    <a:pt x="424377" y="559366"/>
                    <a:pt x="425623" y="567898"/>
                    <a:pt x="421173" y="573942"/>
                  </a:cubicBezTo>
                  <a:cubicBezTo>
                    <a:pt x="418503" y="577585"/>
                    <a:pt x="414409" y="579452"/>
                    <a:pt x="410225" y="579452"/>
                  </a:cubicBezTo>
                  <a:cubicBezTo>
                    <a:pt x="407466" y="579452"/>
                    <a:pt x="404618" y="578652"/>
                    <a:pt x="402215" y="576874"/>
                  </a:cubicBezTo>
                  <a:lnTo>
                    <a:pt x="317393" y="514752"/>
                  </a:lnTo>
                  <a:lnTo>
                    <a:pt x="317393" y="565854"/>
                  </a:lnTo>
                  <a:cubicBezTo>
                    <a:pt x="317393" y="573408"/>
                    <a:pt x="311341" y="579452"/>
                    <a:pt x="303775" y="579452"/>
                  </a:cubicBezTo>
                  <a:cubicBezTo>
                    <a:pt x="296299" y="579452"/>
                    <a:pt x="290157" y="573408"/>
                    <a:pt x="290157" y="565854"/>
                  </a:cubicBezTo>
                  <a:lnTo>
                    <a:pt x="290157" y="514752"/>
                  </a:lnTo>
                  <a:lnTo>
                    <a:pt x="205424" y="576874"/>
                  </a:lnTo>
                  <a:cubicBezTo>
                    <a:pt x="199372" y="581318"/>
                    <a:pt x="190827" y="579985"/>
                    <a:pt x="186377" y="573942"/>
                  </a:cubicBezTo>
                  <a:cubicBezTo>
                    <a:pt x="181927" y="567898"/>
                    <a:pt x="183262" y="559366"/>
                    <a:pt x="189314" y="554923"/>
                  </a:cubicBezTo>
                  <a:lnTo>
                    <a:pt x="290157" y="481069"/>
                  </a:lnTo>
                  <a:lnTo>
                    <a:pt x="290157" y="441165"/>
                  </a:lnTo>
                  <a:lnTo>
                    <a:pt x="58120" y="441165"/>
                  </a:lnTo>
                  <a:cubicBezTo>
                    <a:pt x="43167" y="441165"/>
                    <a:pt x="30885" y="428990"/>
                    <a:pt x="30885" y="413970"/>
                  </a:cubicBezTo>
                  <a:lnTo>
                    <a:pt x="30885" y="108514"/>
                  </a:lnTo>
                  <a:lnTo>
                    <a:pt x="27236" y="108514"/>
                  </a:lnTo>
                  <a:cubicBezTo>
                    <a:pt x="12194" y="108514"/>
                    <a:pt x="0" y="96338"/>
                    <a:pt x="0" y="81319"/>
                  </a:cubicBezTo>
                  <a:lnTo>
                    <a:pt x="0" y="56079"/>
                  </a:lnTo>
                  <a:cubicBezTo>
                    <a:pt x="0" y="41148"/>
                    <a:pt x="12194" y="28884"/>
                    <a:pt x="27236" y="28884"/>
                  </a:cubicBezTo>
                  <a:lnTo>
                    <a:pt x="290157" y="28884"/>
                  </a:lnTo>
                  <a:lnTo>
                    <a:pt x="290157" y="13597"/>
                  </a:lnTo>
                  <a:cubicBezTo>
                    <a:pt x="290157" y="6132"/>
                    <a:pt x="296299" y="0"/>
                    <a:pt x="3037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lIns="90170" tIns="46990" rIns="90170" bIns="46990" anchor="ctr">
              <a:normAutofit fontScale="92500" lnSpcReduction="10000"/>
            </a:bodyPr>
            <a:lstStyle/>
            <a:p>
              <a:pPr marL="0" algn="ctr"/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6647815" y="1731645"/>
            <a:ext cx="4895850" cy="1656715"/>
          </a:xfrm>
          <a:prstGeom prst="roundRect">
            <a:avLst>
              <a:gd name="adj" fmla="val 6867"/>
            </a:avLst>
          </a:prstGeom>
          <a:blipFill rotWithShape="1">
            <a:blip r:embed="rId3"/>
            <a:stretch>
              <a:fillRect l="347" t="-45419" r="-347" b="-46581"/>
            </a:stretch>
          </a:blipFill>
          <a:ln cap="flat" cmpd="sng">
            <a:noFill/>
            <a:prstDash val="solid"/>
            <a:miter lim="800000"/>
          </a:ln>
          <a:effectLst/>
        </p:spPr>
        <p:txBody>
          <a:bodyPr vert="horz" lIns="90170" tIns="46990" rIns="90170" bIns="46990" anchor="ctr">
            <a:normAutofit/>
          </a:bodyPr>
          <a:lstStyle/>
          <a:p>
            <a:pPr marL="0" algn="ctr"/>
            <a:endParaRPr/>
          </a:p>
        </p:txBody>
      </p:sp>
      <p:grpSp>
        <p:nvGrpSpPr>
          <p:cNvPr id="8" name="Group 8"/>
          <p:cNvGrpSpPr/>
          <p:nvPr/>
        </p:nvGrpSpPr>
        <p:grpSpPr>
          <a:xfrm>
            <a:off x="8765540" y="3051175"/>
            <a:ext cx="673735" cy="673735"/>
            <a:chOff x="1919536" y="2739155"/>
            <a:chExt cx="504056" cy="504056"/>
          </a:xfrm>
        </p:grpSpPr>
        <p:sp>
          <p:nvSpPr>
            <p:cNvPr id="9" name="AutoShape 9"/>
            <p:cNvSpPr/>
            <p:nvPr/>
          </p:nvSpPr>
          <p:spPr>
            <a:xfrm>
              <a:off x="1919536" y="2739155"/>
              <a:ext cx="504056" cy="504056"/>
            </a:xfrm>
            <a:prstGeom prst="ellipse">
              <a:avLst/>
            </a:prstGeom>
            <a:solidFill>
              <a:srgbClr val="1F497D"/>
            </a:solidFill>
            <a:ln w="25400">
              <a:solidFill>
                <a:srgbClr val="FFFFFF"/>
              </a:solidFill>
            </a:ln>
          </p:spPr>
          <p:txBody>
            <a:bodyPr vert="horz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0" name="Freeform 10"/>
            <p:cNvSpPr/>
            <p:nvPr/>
          </p:nvSpPr>
          <p:spPr>
            <a:xfrm>
              <a:off x="2043203" y="2868766"/>
              <a:ext cx="256722" cy="244834"/>
            </a:xfrm>
            <a:custGeom>
              <a:avLst/>
              <a:gdLst/>
              <a:ahLst/>
              <a:cxnLst/>
              <a:rect l="l" t="t" r="r" b="b"/>
              <a:pathLst>
                <a:path w="607639" h="579502">
                  <a:moveTo>
                    <a:pt x="315778" y="173080"/>
                  </a:moveTo>
                  <a:lnTo>
                    <a:pt x="315778" y="266058"/>
                  </a:lnTo>
                  <a:cubicBezTo>
                    <a:pt x="315778" y="272814"/>
                    <a:pt x="310258" y="278325"/>
                    <a:pt x="303493" y="278325"/>
                  </a:cubicBezTo>
                  <a:lnTo>
                    <a:pt x="210375" y="278325"/>
                  </a:lnTo>
                  <a:cubicBezTo>
                    <a:pt x="216429" y="324281"/>
                    <a:pt x="255866" y="359925"/>
                    <a:pt x="303493" y="359925"/>
                  </a:cubicBezTo>
                  <a:cubicBezTo>
                    <a:pt x="355303" y="359925"/>
                    <a:pt x="397500" y="317792"/>
                    <a:pt x="397500" y="266058"/>
                  </a:cubicBezTo>
                  <a:cubicBezTo>
                    <a:pt x="397500" y="218502"/>
                    <a:pt x="361802" y="179124"/>
                    <a:pt x="315778" y="173080"/>
                  </a:cubicBezTo>
                  <a:close/>
                  <a:moveTo>
                    <a:pt x="249814" y="160816"/>
                  </a:moveTo>
                  <a:cubicBezTo>
                    <a:pt x="223740" y="165793"/>
                    <a:pt x="203093" y="186410"/>
                    <a:pt x="198110" y="212449"/>
                  </a:cubicBezTo>
                  <a:lnTo>
                    <a:pt x="249814" y="212449"/>
                  </a:lnTo>
                  <a:close/>
                  <a:moveTo>
                    <a:pt x="303493" y="147835"/>
                  </a:moveTo>
                  <a:cubicBezTo>
                    <a:pt x="368835" y="147835"/>
                    <a:pt x="421981" y="200902"/>
                    <a:pt x="421981" y="266058"/>
                  </a:cubicBezTo>
                  <a:cubicBezTo>
                    <a:pt x="421981" y="331303"/>
                    <a:pt x="368835" y="384370"/>
                    <a:pt x="303493" y="384370"/>
                  </a:cubicBezTo>
                  <a:cubicBezTo>
                    <a:pt x="238239" y="384370"/>
                    <a:pt x="185093" y="331303"/>
                    <a:pt x="185093" y="266058"/>
                  </a:cubicBezTo>
                  <a:cubicBezTo>
                    <a:pt x="185093" y="259303"/>
                    <a:pt x="190523" y="253880"/>
                    <a:pt x="197289" y="253880"/>
                  </a:cubicBezTo>
                  <a:lnTo>
                    <a:pt x="291297" y="253880"/>
                  </a:lnTo>
                  <a:lnTo>
                    <a:pt x="291297" y="160013"/>
                  </a:lnTo>
                  <a:cubicBezTo>
                    <a:pt x="291297" y="153257"/>
                    <a:pt x="296727" y="147835"/>
                    <a:pt x="303493" y="147835"/>
                  </a:cubicBezTo>
                  <a:close/>
                  <a:moveTo>
                    <a:pt x="262095" y="135133"/>
                  </a:moveTo>
                  <a:cubicBezTo>
                    <a:pt x="268859" y="135133"/>
                    <a:pt x="274287" y="140643"/>
                    <a:pt x="274287" y="147397"/>
                  </a:cubicBezTo>
                  <a:lnTo>
                    <a:pt x="274287" y="224713"/>
                  </a:lnTo>
                  <a:cubicBezTo>
                    <a:pt x="274287" y="231467"/>
                    <a:pt x="268859" y="236888"/>
                    <a:pt x="262095" y="236888"/>
                  </a:cubicBezTo>
                  <a:lnTo>
                    <a:pt x="184672" y="236888"/>
                  </a:lnTo>
                  <a:cubicBezTo>
                    <a:pt x="177909" y="236888"/>
                    <a:pt x="172391" y="231467"/>
                    <a:pt x="172391" y="224713"/>
                  </a:cubicBezTo>
                  <a:cubicBezTo>
                    <a:pt x="172391" y="175302"/>
                    <a:pt x="212616" y="135133"/>
                    <a:pt x="262095" y="135133"/>
                  </a:cubicBezTo>
                  <a:close/>
                  <a:moveTo>
                    <a:pt x="58120" y="108514"/>
                  </a:moveTo>
                  <a:lnTo>
                    <a:pt x="58120" y="413970"/>
                  </a:lnTo>
                  <a:lnTo>
                    <a:pt x="549430" y="413970"/>
                  </a:lnTo>
                  <a:lnTo>
                    <a:pt x="549430" y="108514"/>
                  </a:lnTo>
                  <a:close/>
                  <a:moveTo>
                    <a:pt x="27236" y="56079"/>
                  </a:moveTo>
                  <a:lnTo>
                    <a:pt x="27236" y="81319"/>
                  </a:lnTo>
                  <a:lnTo>
                    <a:pt x="580403" y="81319"/>
                  </a:lnTo>
                  <a:lnTo>
                    <a:pt x="580403" y="56079"/>
                  </a:lnTo>
                  <a:close/>
                  <a:moveTo>
                    <a:pt x="303775" y="0"/>
                  </a:moveTo>
                  <a:cubicBezTo>
                    <a:pt x="311341" y="0"/>
                    <a:pt x="317393" y="6132"/>
                    <a:pt x="317393" y="13597"/>
                  </a:cubicBezTo>
                  <a:lnTo>
                    <a:pt x="317393" y="28884"/>
                  </a:lnTo>
                  <a:lnTo>
                    <a:pt x="580403" y="28884"/>
                  </a:lnTo>
                  <a:cubicBezTo>
                    <a:pt x="595356" y="28884"/>
                    <a:pt x="607639" y="41148"/>
                    <a:pt x="607639" y="56079"/>
                  </a:cubicBezTo>
                  <a:lnTo>
                    <a:pt x="607639" y="81319"/>
                  </a:lnTo>
                  <a:cubicBezTo>
                    <a:pt x="607639" y="96338"/>
                    <a:pt x="595356" y="108514"/>
                    <a:pt x="580403" y="108514"/>
                  </a:cubicBezTo>
                  <a:lnTo>
                    <a:pt x="576665" y="108514"/>
                  </a:lnTo>
                  <a:lnTo>
                    <a:pt x="576665" y="413970"/>
                  </a:lnTo>
                  <a:cubicBezTo>
                    <a:pt x="576665" y="428990"/>
                    <a:pt x="564472" y="441165"/>
                    <a:pt x="549430" y="441165"/>
                  </a:cubicBezTo>
                  <a:lnTo>
                    <a:pt x="317393" y="441165"/>
                  </a:lnTo>
                  <a:lnTo>
                    <a:pt x="317393" y="481069"/>
                  </a:lnTo>
                  <a:lnTo>
                    <a:pt x="418236" y="554923"/>
                  </a:lnTo>
                  <a:cubicBezTo>
                    <a:pt x="424377" y="559366"/>
                    <a:pt x="425623" y="567898"/>
                    <a:pt x="421173" y="573942"/>
                  </a:cubicBezTo>
                  <a:cubicBezTo>
                    <a:pt x="418503" y="577585"/>
                    <a:pt x="414409" y="579452"/>
                    <a:pt x="410225" y="579452"/>
                  </a:cubicBezTo>
                  <a:cubicBezTo>
                    <a:pt x="407466" y="579452"/>
                    <a:pt x="404618" y="578652"/>
                    <a:pt x="402215" y="576874"/>
                  </a:cubicBezTo>
                  <a:lnTo>
                    <a:pt x="317393" y="514752"/>
                  </a:lnTo>
                  <a:lnTo>
                    <a:pt x="317393" y="565854"/>
                  </a:lnTo>
                  <a:cubicBezTo>
                    <a:pt x="317393" y="573408"/>
                    <a:pt x="311341" y="579452"/>
                    <a:pt x="303775" y="579452"/>
                  </a:cubicBezTo>
                  <a:cubicBezTo>
                    <a:pt x="296299" y="579452"/>
                    <a:pt x="290157" y="573408"/>
                    <a:pt x="290157" y="565854"/>
                  </a:cubicBezTo>
                  <a:lnTo>
                    <a:pt x="290157" y="514752"/>
                  </a:lnTo>
                  <a:lnTo>
                    <a:pt x="205424" y="576874"/>
                  </a:lnTo>
                  <a:cubicBezTo>
                    <a:pt x="199372" y="581318"/>
                    <a:pt x="190827" y="579985"/>
                    <a:pt x="186377" y="573942"/>
                  </a:cubicBezTo>
                  <a:cubicBezTo>
                    <a:pt x="181927" y="567898"/>
                    <a:pt x="183262" y="559366"/>
                    <a:pt x="189314" y="554923"/>
                  </a:cubicBezTo>
                  <a:lnTo>
                    <a:pt x="290157" y="481069"/>
                  </a:lnTo>
                  <a:lnTo>
                    <a:pt x="290157" y="441165"/>
                  </a:lnTo>
                  <a:lnTo>
                    <a:pt x="58120" y="441165"/>
                  </a:lnTo>
                  <a:cubicBezTo>
                    <a:pt x="43167" y="441165"/>
                    <a:pt x="30885" y="428990"/>
                    <a:pt x="30885" y="413970"/>
                  </a:cubicBezTo>
                  <a:lnTo>
                    <a:pt x="30885" y="108514"/>
                  </a:lnTo>
                  <a:lnTo>
                    <a:pt x="27236" y="108514"/>
                  </a:lnTo>
                  <a:cubicBezTo>
                    <a:pt x="12194" y="108514"/>
                    <a:pt x="0" y="96338"/>
                    <a:pt x="0" y="81319"/>
                  </a:cubicBezTo>
                  <a:lnTo>
                    <a:pt x="0" y="56079"/>
                  </a:lnTo>
                  <a:cubicBezTo>
                    <a:pt x="0" y="41148"/>
                    <a:pt x="12194" y="28884"/>
                    <a:pt x="27236" y="28884"/>
                  </a:cubicBezTo>
                  <a:lnTo>
                    <a:pt x="290157" y="28884"/>
                  </a:lnTo>
                  <a:lnTo>
                    <a:pt x="290157" y="13597"/>
                  </a:lnTo>
                  <a:cubicBezTo>
                    <a:pt x="290157" y="6132"/>
                    <a:pt x="296299" y="0"/>
                    <a:pt x="3037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lIns="90170" tIns="46990" rIns="90170" bIns="46990" anchor="ctr">
              <a:normAutofit fontScale="92500" lnSpcReduction="10000"/>
            </a:bodyPr>
            <a:lstStyle/>
            <a:p>
              <a:pPr marL="0" algn="ctr"/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Python (Pandas) Workflow &amp; Visualizations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60400" y="4315460"/>
            <a:ext cx="4896000" cy="1866265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 fontScale="92500" lnSpcReduction="20000"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ln/>
                <a:solidFill>
                  <a:srgbClr val="333333"/>
                </a:solidFill>
                <a:latin typeface="思源黑体 Normal"/>
                <a:ea typeface="思源黑体 Normal"/>
              </a:rPr>
              <a:t>Import data → Clean with Pandas → Exploratory data analysis → Visualize with Matplotlib/Seaborn → Derive insights. Charts: daily steps distribution, calories distribution, sleep duration, activity segments, scatter plots (steps vs calories, sleep vs steps), correlation heatmap, user segmentation.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647815" y="4315460"/>
            <a:ext cx="4896000" cy="1866265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333333"/>
                </a:solidFill>
                <a:latin typeface="思源黑体 Normal"/>
                <a:ea typeface="思源黑体 Normal"/>
              </a:rPr>
              <a:t>Most users are moderately active; activity levels vary significantly across the sample; sleep duration differs notably; higher activity leads to greater calorie burn.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0400" y="3724275"/>
            <a:ext cx="4896000" cy="591203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2000" b="1" i="0" u="none" baseline="0">
                <a:solidFill>
                  <a:srgbClr val="1F497D"/>
                </a:solidFill>
                <a:latin typeface="思源黑体 Normal"/>
                <a:ea typeface="思源黑体 Normal"/>
              </a:rPr>
              <a:t>Analytical Pipeline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647815" y="3724275"/>
            <a:ext cx="4896000" cy="591203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2000" b="1" i="0" u="none" baseline="0">
                <a:solidFill>
                  <a:srgbClr val="1F497D"/>
                </a:solidFill>
                <a:latin typeface="思源黑体 Normal"/>
                <a:ea typeface="思源黑体 Normal"/>
              </a:rPr>
              <a:t>Discovery Highlights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6165215" y="1731645"/>
            <a:ext cx="0" cy="4116705"/>
          </a:xfrm>
          <a:prstGeom prst="line">
            <a:avLst/>
          </a:prstGeom>
          <a:ln w="9525">
            <a:solidFill>
              <a:srgbClr val="1F497D"/>
            </a:solidFill>
          </a:ln>
        </p:spPr>
      </p:cxnSp>
      <p:sp>
        <p:nvSpPr>
          <p:cNvPr id="11" name="Freeform 11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 fontScale="92500"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 dirty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Python (Pandas) Workflow &amp; </a:t>
            </a:r>
            <a:r>
              <a:rPr lang="en-US" sz="3200" b="1" i="0" u="none" baseline="0" dirty="0" smtClean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Visualizations Screenshots</a:t>
            </a:r>
            <a:endParaRPr lang="en-US" sz="1100" dirty="0"/>
          </a:p>
        </p:txBody>
      </p:sp>
      <p:sp>
        <p:nvSpPr>
          <p:cNvPr id="15" name="TextBox 15"/>
          <p:cNvSpPr txBox="1"/>
          <p:nvPr/>
        </p:nvSpPr>
        <p:spPr>
          <a:xfrm>
            <a:off x="6703338" y="1140442"/>
            <a:ext cx="4896000" cy="591203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>
              <a:defRPr/>
            </a:pPr>
            <a:r>
              <a:rPr lang="en-US" sz="2000" b="1" dirty="0" smtClean="0">
                <a:solidFill>
                  <a:srgbClr val="1F497D"/>
                </a:solidFill>
              </a:rPr>
              <a:t>Average </a:t>
            </a:r>
            <a:r>
              <a:rPr lang="en-US" sz="2000" b="1" dirty="0">
                <a:solidFill>
                  <a:srgbClr val="1F497D"/>
                </a:solidFill>
              </a:rPr>
              <a:t>Hourly Activity</a:t>
            </a:r>
            <a:endParaRPr lang="en-US" sz="1100" dirty="0"/>
          </a:p>
        </p:txBody>
      </p:sp>
      <p:sp>
        <p:nvSpPr>
          <p:cNvPr id="16" name="TextBox 16"/>
          <p:cNvSpPr txBox="1"/>
          <p:nvPr/>
        </p:nvSpPr>
        <p:spPr>
          <a:xfrm>
            <a:off x="691261" y="1076180"/>
            <a:ext cx="4896000" cy="591203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2000" b="1" dirty="0" smtClean="0">
                <a:solidFill>
                  <a:srgbClr val="1F497D"/>
                </a:solidFill>
                <a:latin typeface="思源黑体 Normal"/>
              </a:rPr>
              <a:t>KPI Section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692" y="2133600"/>
            <a:ext cx="5868616" cy="289083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9464" y="2151888"/>
            <a:ext cx="5311318" cy="289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469899"/>
      </p:ext>
    </p:extLst>
  </p:cSld>
  <p:clrMapOvr>
    <a:masterClrMapping/>
  </p:clrMapOvr>
  <p:transition advClick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6165215" y="1731645"/>
            <a:ext cx="0" cy="4116705"/>
          </a:xfrm>
          <a:prstGeom prst="line">
            <a:avLst/>
          </a:prstGeom>
          <a:ln w="9525">
            <a:solidFill>
              <a:srgbClr val="1F497D"/>
            </a:solidFill>
          </a:ln>
        </p:spPr>
      </p:cxnSp>
      <p:sp>
        <p:nvSpPr>
          <p:cNvPr id="11" name="Freeform 11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 fontScale="92500"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 dirty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Python (Pandas) Workflow &amp; </a:t>
            </a:r>
            <a:r>
              <a:rPr lang="en-US" sz="3200" b="1" i="0" u="none" baseline="0" dirty="0" smtClean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Visualizations Screenshots</a:t>
            </a:r>
            <a:endParaRPr lang="en-US" sz="1100" dirty="0"/>
          </a:p>
        </p:txBody>
      </p:sp>
      <p:sp>
        <p:nvSpPr>
          <p:cNvPr id="15" name="TextBox 15"/>
          <p:cNvSpPr txBox="1"/>
          <p:nvPr/>
        </p:nvSpPr>
        <p:spPr>
          <a:xfrm>
            <a:off x="6703338" y="1140442"/>
            <a:ext cx="4896000" cy="591203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>
              <a:defRPr/>
            </a:pPr>
            <a:r>
              <a:rPr lang="en-US" sz="2000" b="1" dirty="0" smtClean="0">
                <a:solidFill>
                  <a:srgbClr val="1F497D"/>
                </a:solidFill>
              </a:rPr>
              <a:t>Distribution of </a:t>
            </a:r>
            <a:r>
              <a:rPr lang="en-US" sz="2000" b="1" dirty="0">
                <a:solidFill>
                  <a:srgbClr val="1F497D"/>
                </a:solidFill>
              </a:rPr>
              <a:t>Daily Steps</a:t>
            </a:r>
            <a:endParaRPr lang="en-US" sz="1100" dirty="0"/>
          </a:p>
        </p:txBody>
      </p:sp>
      <p:sp>
        <p:nvSpPr>
          <p:cNvPr id="16" name="TextBox 16"/>
          <p:cNvSpPr txBox="1"/>
          <p:nvPr/>
        </p:nvSpPr>
        <p:spPr>
          <a:xfrm>
            <a:off x="691261" y="1076180"/>
            <a:ext cx="4896000" cy="591203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>
              <a:defRPr/>
            </a:pPr>
            <a:r>
              <a:rPr lang="en-US" sz="2000" b="1" dirty="0" smtClean="0">
                <a:solidFill>
                  <a:srgbClr val="1F497D"/>
                </a:solidFill>
              </a:rPr>
              <a:t>Correlation Matrix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5190" y="2133600"/>
            <a:ext cx="3167619" cy="289083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043" y="2151888"/>
            <a:ext cx="4492160" cy="289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710965"/>
      </p:ext>
    </p:extLst>
  </p:cSld>
  <p:clrMapOvr>
    <a:masterClrMapping/>
  </p:clrMapOvr>
  <p:transition advClick="0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6165215" y="1731645"/>
            <a:ext cx="0" cy="4116705"/>
          </a:xfrm>
          <a:prstGeom prst="line">
            <a:avLst/>
          </a:prstGeom>
          <a:ln w="9525">
            <a:solidFill>
              <a:srgbClr val="1F497D"/>
            </a:solidFill>
          </a:ln>
        </p:spPr>
      </p:cxnSp>
      <p:sp>
        <p:nvSpPr>
          <p:cNvPr id="11" name="Freeform 11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 fontScale="92500"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 dirty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Python (Pandas) Workflow &amp; </a:t>
            </a:r>
            <a:r>
              <a:rPr lang="en-US" sz="3200" b="1" i="0" u="none" baseline="0" dirty="0" smtClean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Visualizations Screenshots</a:t>
            </a:r>
            <a:endParaRPr lang="en-US" sz="1100" dirty="0"/>
          </a:p>
        </p:txBody>
      </p:sp>
      <p:sp>
        <p:nvSpPr>
          <p:cNvPr id="15" name="TextBox 15"/>
          <p:cNvSpPr txBox="1"/>
          <p:nvPr/>
        </p:nvSpPr>
        <p:spPr>
          <a:xfrm>
            <a:off x="6703338" y="1140442"/>
            <a:ext cx="4896000" cy="591203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>
              <a:defRPr/>
            </a:pPr>
            <a:r>
              <a:rPr lang="en-US" sz="2000" b="1" dirty="0" smtClean="0">
                <a:solidFill>
                  <a:srgbClr val="1F497D"/>
                </a:solidFill>
              </a:rPr>
              <a:t>Steps </a:t>
            </a:r>
            <a:r>
              <a:rPr lang="en-US" sz="2000" b="1" dirty="0">
                <a:solidFill>
                  <a:srgbClr val="1F497D"/>
                </a:solidFill>
              </a:rPr>
              <a:t>vs Calories Burned</a:t>
            </a:r>
            <a:endParaRPr lang="en-US" sz="1100" dirty="0"/>
          </a:p>
        </p:txBody>
      </p:sp>
      <p:sp>
        <p:nvSpPr>
          <p:cNvPr id="16" name="TextBox 16"/>
          <p:cNvSpPr txBox="1"/>
          <p:nvPr/>
        </p:nvSpPr>
        <p:spPr>
          <a:xfrm>
            <a:off x="691261" y="1076180"/>
            <a:ext cx="4896000" cy="591203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>
              <a:defRPr/>
            </a:pPr>
            <a:r>
              <a:rPr lang="en-US" sz="2000" b="1" dirty="0" smtClean="0">
                <a:solidFill>
                  <a:srgbClr val="1F497D"/>
                </a:solidFill>
              </a:rPr>
              <a:t>Sleep </a:t>
            </a:r>
            <a:r>
              <a:rPr lang="en-US" sz="2000" b="1" dirty="0">
                <a:solidFill>
                  <a:srgbClr val="1F497D"/>
                </a:solidFill>
              </a:rPr>
              <a:t>Duration Distribution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916815"/>
            <a:ext cx="4806016" cy="312591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9043" y="1941199"/>
            <a:ext cx="4492160" cy="2860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414092"/>
      </p:ext>
    </p:extLst>
  </p:cSld>
  <p:clrMapOvr>
    <a:masterClrMapping/>
  </p:clrMapOvr>
  <p:transition advClick="0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6165215" y="1731645"/>
            <a:ext cx="0" cy="4116705"/>
          </a:xfrm>
          <a:prstGeom prst="line">
            <a:avLst/>
          </a:prstGeom>
          <a:ln w="9525">
            <a:solidFill>
              <a:srgbClr val="1F497D"/>
            </a:solidFill>
          </a:ln>
        </p:spPr>
      </p:cxnSp>
      <p:sp>
        <p:nvSpPr>
          <p:cNvPr id="11" name="Freeform 11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 fontScale="92500"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 dirty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Python (Pandas) Workflow &amp; </a:t>
            </a:r>
            <a:r>
              <a:rPr lang="en-US" sz="3200" b="1" i="0" u="none" baseline="0" dirty="0" smtClean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Visualizations Screenshots</a:t>
            </a:r>
            <a:endParaRPr lang="en-US" sz="1100" dirty="0"/>
          </a:p>
        </p:txBody>
      </p:sp>
      <p:sp>
        <p:nvSpPr>
          <p:cNvPr id="15" name="TextBox 15"/>
          <p:cNvSpPr txBox="1"/>
          <p:nvPr/>
        </p:nvSpPr>
        <p:spPr>
          <a:xfrm>
            <a:off x="6703338" y="1140442"/>
            <a:ext cx="4896000" cy="591203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>
              <a:defRPr/>
            </a:pPr>
            <a:r>
              <a:rPr lang="en-US" sz="2000" b="1" dirty="0" smtClean="0">
                <a:solidFill>
                  <a:srgbClr val="1F497D"/>
                </a:solidFill>
              </a:rPr>
              <a:t>User </a:t>
            </a:r>
            <a:r>
              <a:rPr lang="en-US" sz="2000" b="1" dirty="0">
                <a:solidFill>
                  <a:srgbClr val="1F497D"/>
                </a:solidFill>
              </a:rPr>
              <a:t>Activity Segmentation</a:t>
            </a:r>
            <a:endParaRPr lang="en-US" sz="1100" dirty="0"/>
          </a:p>
        </p:txBody>
      </p:sp>
      <p:sp>
        <p:nvSpPr>
          <p:cNvPr id="16" name="TextBox 16"/>
          <p:cNvSpPr txBox="1"/>
          <p:nvPr/>
        </p:nvSpPr>
        <p:spPr>
          <a:xfrm>
            <a:off x="691261" y="1076180"/>
            <a:ext cx="4896000" cy="591203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>
              <a:defRPr/>
            </a:pPr>
            <a:r>
              <a:rPr lang="en-US" sz="2000" b="1" dirty="0" smtClean="0">
                <a:solidFill>
                  <a:srgbClr val="1F497D"/>
                </a:solidFill>
              </a:rPr>
              <a:t>Top </a:t>
            </a:r>
            <a:r>
              <a:rPr lang="en-US" sz="2000" b="1" dirty="0">
                <a:solidFill>
                  <a:srgbClr val="1F497D"/>
                </a:solidFill>
              </a:rPr>
              <a:t>10 Most Active Users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032371"/>
            <a:ext cx="4806016" cy="289479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7150" y="1941199"/>
            <a:ext cx="3415946" cy="2860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126371"/>
      </p:ext>
    </p:extLst>
  </p:cSld>
  <p:clrMapOvr>
    <a:masterClrMapping/>
  </p:clrMapOvr>
  <p:transition advClick="0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alphaModFix amt="88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9885" y="2245995"/>
            <a:ext cx="6281420" cy="176339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4400" b="1" i="0" u="none" baseline="0">
                <a:solidFill>
                  <a:schemeClr val="bg1"/>
                </a:soli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思源黑体 Medium"/>
                <a:ea typeface="思源黑体 Medium"/>
              </a:rPr>
              <a:t>Power BI: Model, Measures &amp; Dashboards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flipV="1">
            <a:off x="349885" y="4450080"/>
            <a:ext cx="5942965" cy="16510"/>
          </a:xfrm>
          <a:prstGeom prst="line">
            <a:avLst/>
          </a:prstGeom>
          <a:ln w="28575">
            <a:solidFill>
              <a:srgbClr val="1F497D"/>
            </a:solidFill>
          </a:ln>
        </p:spPr>
      </p:cxnSp>
      <p:grpSp>
        <p:nvGrpSpPr>
          <p:cNvPr id="5" name="Group 5"/>
          <p:cNvGrpSpPr/>
          <p:nvPr/>
        </p:nvGrpSpPr>
        <p:grpSpPr>
          <a:xfrm>
            <a:off x="346710" y="942975"/>
            <a:ext cx="2961005" cy="826770"/>
            <a:chOff x="1341" y="1040"/>
            <a:chExt cx="4663" cy="1302"/>
          </a:xfrm>
        </p:grpSpPr>
        <p:sp>
          <p:nvSpPr>
            <p:cNvPr id="6" name="AutoShape 6"/>
            <p:cNvSpPr/>
            <p:nvPr/>
          </p:nvSpPr>
          <p:spPr>
            <a:xfrm>
              <a:off x="1341" y="1040"/>
              <a:ext cx="4663" cy="1302"/>
            </a:xfrm>
            <a:prstGeom prst="roundRect">
              <a:avLst/>
            </a:prstGeom>
            <a:solidFill>
              <a:srgbClr val="1C4372"/>
            </a:solidFill>
            <a:ln>
              <a:noFill/>
            </a:ln>
          </p:spPr>
          <p:txBody>
            <a:bodyPr vert="horz" lIns="91440" tIns="45720" rIns="91440" bIns="45720" anchor="ctr"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44" y="1059"/>
              <a:ext cx="4330" cy="126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0" indent="0" algn="dist" fontAlgn="auto">
                <a:defRPr/>
              </a:pPr>
              <a:r>
                <a:rPr lang="en-US" sz="4800" b="1" i="0" u="none" baseline="0">
                  <a:solidFill>
                    <a:schemeClr val="bg2"/>
                  </a:solidFill>
                  <a:latin typeface="思源黑体 Medium"/>
                  <a:ea typeface="思源黑体 Medium"/>
                </a:rPr>
                <a:t>part-03</a:t>
              </a:r>
              <a:endParaRPr lang="en-US" sz="1100"/>
            </a:p>
          </p:txBody>
        </p:sp>
      </p:grpSp>
      <p:sp>
        <p:nvSpPr>
          <p:cNvPr id="8" name="AutoShape 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9" name="Picture 8" descr="A close up of a logo&#10;&#10;AI-generated content may be incorrect.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0"/>
            <a:ext cx="2185864" cy="85248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353D72">
                <a:alpha val="47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012430" y="1141095"/>
            <a:ext cx="3296285" cy="5153660"/>
          </a:xfrm>
          <a:prstGeom prst="snip2DiagRect">
            <a:avLst/>
          </a:prstGeom>
          <a:noFill/>
          <a:ln>
            <a:solidFill>
              <a:srgbClr val="1F497D">
                <a:alpha val="25000"/>
              </a:srgbClr>
            </a:solidFill>
          </a:ln>
        </p:spPr>
        <p:txBody>
          <a:bodyPr vert="horz" lIns="91440" tIns="45720" rIns="91440" bIns="45720" anchor="ctr"/>
          <a:lstStyle/>
          <a:p>
            <a:pPr marL="0" algn="ctr"/>
            <a:endParaRPr/>
          </a:p>
        </p:txBody>
      </p:sp>
      <p:pic>
        <p:nvPicPr>
          <p:cNvPr id="3" name="image16.jpeg"/>
          <p:cNvPicPr>
            <a:picLocks noChangeAspect="1"/>
          </p:cNvPicPr>
          <p:nvPr/>
        </p:nvPicPr>
        <p:blipFill>
          <a:blip r:embed="rId2"/>
          <a:srcRect l="18026" r="18026"/>
          <a:stretch>
            <a:fillRect/>
          </a:stretch>
        </p:blipFill>
        <p:spPr>
          <a:xfrm>
            <a:off x="7935595" y="1222375"/>
            <a:ext cx="3296285" cy="5153660"/>
          </a:xfrm>
          <a:custGeom>
            <a:avLst/>
            <a:gdLst/>
            <a:ahLst/>
            <a:cxnLst/>
            <a:rect l="0" t="0" r="0" b="0"/>
            <a:pathLst>
              <a:path w="5191" h="8116">
                <a:moveTo>
                  <a:pt x="0" y="0"/>
                </a:moveTo>
                <a:lnTo>
                  <a:pt x="4326" y="0"/>
                </a:lnTo>
                <a:lnTo>
                  <a:pt x="5191" y="865"/>
                </a:lnTo>
                <a:lnTo>
                  <a:pt x="5191" y="8116"/>
                </a:lnTo>
                <a:lnTo>
                  <a:pt x="865" y="8116"/>
                </a:lnTo>
                <a:lnTo>
                  <a:pt x="0" y="7251"/>
                </a:lnTo>
                <a:lnTo>
                  <a:pt x="0" y="0"/>
                </a:lnTo>
                <a:close/>
              </a:path>
            </a:pathLst>
          </a:custGeom>
          <a:ln w="6350">
            <a:gradFill>
              <a:gsLst>
                <a:gs pos="0">
                  <a:schemeClr val="accent1"/>
                </a:gs>
                <a:gs pos="5200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/>
            </a:gradFill>
          </a:ln>
        </p:spPr>
      </p:pic>
      <p:sp>
        <p:nvSpPr>
          <p:cNvPr id="4" name="Freeform 4"/>
          <p:cNvSpPr/>
          <p:nvPr/>
        </p:nvSpPr>
        <p:spPr>
          <a:xfrm flipH="1">
            <a:off x="11085830" y="6006465"/>
            <a:ext cx="216000" cy="216000"/>
          </a:xfrm>
          <a:custGeom>
            <a:avLst/>
            <a:gdLst/>
            <a:ahLst/>
            <a:cxnLst/>
            <a:rect l="l" t="t" r="r" b="b"/>
            <a:pathLst>
              <a:path w="255" h="384">
                <a:moveTo>
                  <a:pt x="0" y="50"/>
                </a:moveTo>
                <a:lnTo>
                  <a:pt x="6" y="383"/>
                </a:lnTo>
                <a:lnTo>
                  <a:pt x="255" y="384"/>
                </a:lnTo>
                <a:lnTo>
                  <a:pt x="255" y="288"/>
                </a:lnTo>
                <a:lnTo>
                  <a:pt x="75" y="288"/>
                </a:lnTo>
                <a:lnTo>
                  <a:pt x="75" y="0"/>
                </a:lnTo>
                <a:lnTo>
                  <a:pt x="0" y="50"/>
                </a:lnTo>
                <a:close/>
              </a:path>
            </a:pathLst>
          </a:custGeom>
          <a:solidFill>
            <a:srgbClr val="1F497D">
              <a:alpha val="65000"/>
            </a:srgbClr>
          </a:soli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5" name="Freeform 5"/>
          <p:cNvSpPr/>
          <p:nvPr/>
        </p:nvSpPr>
        <p:spPr>
          <a:xfrm>
            <a:off x="770255" y="1496695"/>
            <a:ext cx="6374765" cy="585470"/>
          </a:xfrm>
          <a:custGeom>
            <a:avLst/>
            <a:gdLst/>
            <a:ahLst/>
            <a:cxnLst/>
            <a:rect l="l" t="t" r="r" b="b"/>
            <a:pathLst>
              <a:path w="10573" h="1032">
                <a:moveTo>
                  <a:pt x="10573" y="0"/>
                </a:moveTo>
                <a:lnTo>
                  <a:pt x="10573" y="545"/>
                </a:lnTo>
                <a:lnTo>
                  <a:pt x="9607" y="1032"/>
                </a:lnTo>
                <a:lnTo>
                  <a:pt x="0" y="1032"/>
                </a:lnTo>
                <a:lnTo>
                  <a:pt x="0" y="487"/>
                </a:lnTo>
                <a:lnTo>
                  <a:pt x="544" y="9"/>
                </a:lnTo>
                <a:lnTo>
                  <a:pt x="10573" y="0"/>
                </a:lnTo>
                <a:close/>
              </a:path>
            </a:pathLst>
          </a:custGeom>
          <a:noFill/>
          <a:ln w="6350">
            <a:gradFill>
              <a:gsLst>
                <a:gs pos="0">
                  <a:srgbClr val="1F497D"/>
                </a:gs>
                <a:gs pos="100000">
                  <a:srgbClr val="1F497D">
                    <a:alpha val="0"/>
                  </a:srgbClr>
                </a:gs>
              </a:gsLst>
            </a:gradFill>
          </a:ln>
        </p:spPr>
        <p:txBody>
          <a:bodyPr rot="0" vert="horz" wrap="square" lIns="252094" tIns="0" rIns="0" bIns="0" anchor="ctr">
            <a:noAutofit/>
          </a:bodyPr>
          <a:lstStyle/>
          <a:p>
            <a:pPr marL="0" algn="l"/>
            <a:r>
              <a:rPr lang="en-US" sz="2000" b="1" i="0" u="none" baseline="0">
                <a:solidFill>
                  <a:srgbClr val="1F497D"/>
                </a:solidFill>
                <a:latin typeface="思源黑体 Normal"/>
                <a:ea typeface="思源黑体 Normal"/>
              </a:rPr>
              <a:t>Design Structure</a:t>
            </a:r>
          </a:p>
        </p:txBody>
      </p:sp>
      <p:sp>
        <p:nvSpPr>
          <p:cNvPr id="6" name="Freeform 6"/>
          <p:cNvSpPr/>
          <p:nvPr/>
        </p:nvSpPr>
        <p:spPr>
          <a:xfrm>
            <a:off x="718820" y="1993900"/>
            <a:ext cx="161925" cy="215900"/>
          </a:xfrm>
          <a:custGeom>
            <a:avLst/>
            <a:gdLst/>
            <a:ahLst/>
            <a:cxnLst/>
            <a:rect l="l" t="t" r="r" b="b"/>
            <a:pathLst>
              <a:path w="255" h="384">
                <a:moveTo>
                  <a:pt x="0" y="50"/>
                </a:moveTo>
                <a:lnTo>
                  <a:pt x="6" y="383"/>
                </a:lnTo>
                <a:lnTo>
                  <a:pt x="255" y="384"/>
                </a:lnTo>
                <a:lnTo>
                  <a:pt x="255" y="288"/>
                </a:lnTo>
                <a:lnTo>
                  <a:pt x="75" y="288"/>
                </a:lnTo>
                <a:lnTo>
                  <a:pt x="75" y="0"/>
                </a:lnTo>
                <a:lnTo>
                  <a:pt x="0" y="50"/>
                </a:lnTo>
                <a:close/>
              </a:path>
            </a:pathLst>
          </a:custGeom>
          <a:solidFill>
            <a:srgbClr val="1F497D"/>
          </a:soli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7" name="Freeform 7"/>
          <p:cNvSpPr/>
          <p:nvPr/>
        </p:nvSpPr>
        <p:spPr>
          <a:xfrm flipV="1">
            <a:off x="1136015" y="1428115"/>
            <a:ext cx="3743960" cy="36195"/>
          </a:xfrm>
          <a:custGeom>
            <a:avLst/>
            <a:gdLst/>
            <a:ahLst/>
            <a:cxnLst/>
            <a:rect l="l" t="t" r="r" b="b"/>
            <a:pathLst>
              <a:path w="1179613" h="21889">
                <a:moveTo>
                  <a:pt x="1157786" y="21889"/>
                </a:moveTo>
                <a:lnTo>
                  <a:pt x="1179613" y="0"/>
                </a:lnTo>
                <a:lnTo>
                  <a:pt x="0" y="0"/>
                </a:lnTo>
                <a:lnTo>
                  <a:pt x="21889" y="21889"/>
                </a:lnTo>
                <a:lnTo>
                  <a:pt x="1157786" y="21889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75000"/>
                </a:schemeClr>
              </a:gs>
              <a:gs pos="86000">
                <a:srgbClr val="1F497D"/>
              </a:gs>
            </a:gsLst>
            <a:lin ang="2700000"/>
          </a:gra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8" name="Freeform 8"/>
          <p:cNvSpPr/>
          <p:nvPr/>
        </p:nvSpPr>
        <p:spPr>
          <a:xfrm>
            <a:off x="770255" y="4003040"/>
            <a:ext cx="6374765" cy="585470"/>
          </a:xfrm>
          <a:custGeom>
            <a:avLst/>
            <a:gdLst/>
            <a:ahLst/>
            <a:cxnLst/>
            <a:rect l="l" t="t" r="r" b="b"/>
            <a:pathLst>
              <a:path w="10573" h="1032">
                <a:moveTo>
                  <a:pt x="10573" y="0"/>
                </a:moveTo>
                <a:lnTo>
                  <a:pt x="10573" y="545"/>
                </a:lnTo>
                <a:lnTo>
                  <a:pt x="9607" y="1032"/>
                </a:lnTo>
                <a:lnTo>
                  <a:pt x="0" y="1032"/>
                </a:lnTo>
                <a:lnTo>
                  <a:pt x="0" y="487"/>
                </a:lnTo>
                <a:lnTo>
                  <a:pt x="544" y="9"/>
                </a:lnTo>
                <a:lnTo>
                  <a:pt x="10573" y="0"/>
                </a:lnTo>
                <a:close/>
              </a:path>
            </a:pathLst>
          </a:custGeom>
          <a:noFill/>
          <a:ln w="6350">
            <a:gradFill>
              <a:gsLst>
                <a:gs pos="0">
                  <a:srgbClr val="1F497D"/>
                </a:gs>
                <a:gs pos="100000">
                  <a:srgbClr val="1F497D">
                    <a:alpha val="0"/>
                  </a:srgbClr>
                </a:gs>
              </a:gsLst>
            </a:gradFill>
          </a:ln>
        </p:spPr>
        <p:txBody>
          <a:bodyPr rot="0" vert="horz" wrap="square" lIns="252094" tIns="0" rIns="0" bIns="0" anchor="ctr">
            <a:noAutofit/>
          </a:bodyPr>
          <a:lstStyle/>
          <a:p>
            <a:pPr marL="0" algn="l"/>
            <a:r>
              <a:rPr lang="en-US" sz="2000" b="1" i="0" u="none" baseline="0">
                <a:solidFill>
                  <a:srgbClr val="1F497D"/>
                </a:solidFill>
                <a:latin typeface="思源黑体 Normal"/>
                <a:ea typeface="思源黑体 Normal"/>
              </a:rPr>
              <a:t>Performance Advantages</a:t>
            </a:r>
          </a:p>
        </p:txBody>
      </p:sp>
      <p:sp>
        <p:nvSpPr>
          <p:cNvPr id="9" name="Freeform 9"/>
          <p:cNvSpPr/>
          <p:nvPr/>
        </p:nvSpPr>
        <p:spPr>
          <a:xfrm>
            <a:off x="718820" y="4500245"/>
            <a:ext cx="161925" cy="215900"/>
          </a:xfrm>
          <a:custGeom>
            <a:avLst/>
            <a:gdLst/>
            <a:ahLst/>
            <a:cxnLst/>
            <a:rect l="l" t="t" r="r" b="b"/>
            <a:pathLst>
              <a:path w="255" h="384">
                <a:moveTo>
                  <a:pt x="0" y="50"/>
                </a:moveTo>
                <a:lnTo>
                  <a:pt x="6" y="383"/>
                </a:lnTo>
                <a:lnTo>
                  <a:pt x="255" y="384"/>
                </a:lnTo>
                <a:lnTo>
                  <a:pt x="255" y="288"/>
                </a:lnTo>
                <a:lnTo>
                  <a:pt x="75" y="288"/>
                </a:lnTo>
                <a:lnTo>
                  <a:pt x="75" y="0"/>
                </a:lnTo>
                <a:lnTo>
                  <a:pt x="0" y="50"/>
                </a:lnTo>
                <a:close/>
              </a:path>
            </a:pathLst>
          </a:custGeom>
          <a:solidFill>
            <a:srgbClr val="1F497D"/>
          </a:soli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10" name="Freeform 10"/>
          <p:cNvSpPr/>
          <p:nvPr/>
        </p:nvSpPr>
        <p:spPr>
          <a:xfrm flipV="1">
            <a:off x="1136015" y="3934460"/>
            <a:ext cx="3743960" cy="36195"/>
          </a:xfrm>
          <a:custGeom>
            <a:avLst/>
            <a:gdLst/>
            <a:ahLst/>
            <a:cxnLst/>
            <a:rect l="l" t="t" r="r" b="b"/>
            <a:pathLst>
              <a:path w="1179613" h="21889">
                <a:moveTo>
                  <a:pt x="1157786" y="21889"/>
                </a:moveTo>
                <a:lnTo>
                  <a:pt x="1179613" y="0"/>
                </a:lnTo>
                <a:lnTo>
                  <a:pt x="0" y="0"/>
                </a:lnTo>
                <a:lnTo>
                  <a:pt x="21889" y="21889"/>
                </a:lnTo>
                <a:lnTo>
                  <a:pt x="1157786" y="21889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75000"/>
                </a:schemeClr>
              </a:gs>
              <a:gs pos="86000">
                <a:srgbClr val="1F497D"/>
              </a:gs>
            </a:gsLst>
            <a:lin ang="2700000"/>
          </a:gradFill>
          <a:ln cap="flat">
            <a:noFill/>
            <a:prstDash val="solid"/>
            <a:miter lim="800000"/>
          </a:ln>
        </p:spPr>
        <p:txBody>
          <a:bodyPr rot="0" vert="horz" wrap="square" lIns="91440" tIns="45720" rIns="91440" bIns="45720" anchor="ctr">
            <a:noAutofit/>
          </a:bodyPr>
          <a:lstStyle/>
          <a:p>
            <a:pPr marL="0" algn="l"/>
            <a:endParaRPr/>
          </a:p>
        </p:txBody>
      </p:sp>
      <p:sp>
        <p:nvSpPr>
          <p:cNvPr id="11" name="TextBox 11"/>
          <p:cNvSpPr txBox="1"/>
          <p:nvPr/>
        </p:nvSpPr>
        <p:spPr>
          <a:xfrm>
            <a:off x="902335" y="2270760"/>
            <a:ext cx="6242685" cy="164655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Dimension table: Dim_User. Fact tables: dailyActivity, sleepDay, hourlySteps, hourlyCalories, hourlyIntensities, heartrate_seconds, WeightLogInfo. Benefits include faster queries and professional BI architecture.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902335" y="4723765"/>
            <a:ext cx="6242685" cy="164655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>
            <a:noAutofit/>
          </a:bodyPr>
          <a:lstStyle/>
          <a:p>
            <a:pPr marL="0" indent="0" algn="l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Star schema simplifies relationships, improves query performance, and enables scalable cross-table analysis for complex fitness metrics.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Star Schema Data Model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/>
          <a:lstStyle/>
          <a:p>
            <a:endParaRPr lang="en-IN"/>
          </a:p>
        </p:txBody>
      </p:sp>
      <p:sp>
        <p:nvSpPr>
          <p:cNvPr id="15" name="AutoShape 15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1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 dirty="0" smtClean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Relationship Screenshots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786" y="1143000"/>
            <a:ext cx="9889827" cy="556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867935"/>
      </p:ext>
    </p:extLst>
  </p:cSld>
  <p:clrMapOvr>
    <a:masterClrMapping/>
  </p:clrMapOvr>
  <p:transition advClick="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1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TextBox 12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dirty="0" smtClean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Model View</a:t>
            </a:r>
            <a:r>
              <a:rPr lang="en-US" sz="3200" b="1" i="0" u="none" baseline="0" dirty="0" smtClean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 Screenshots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786" y="1143000"/>
            <a:ext cx="9889827" cy="556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74660"/>
      </p:ext>
    </p:extLst>
  </p:cSld>
  <p:clrMapOvr>
    <a:masterClrMapping/>
  </p:clrMapOvr>
  <p:transition advClick="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353D72">
                <a:alpha val="47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4661" y="1585024"/>
            <a:ext cx="4570894" cy="4534451"/>
            <a:chOff x="10570" y="2519"/>
            <a:chExt cx="7198" cy="7141"/>
          </a:xfrm>
        </p:grpSpPr>
        <p:sp>
          <p:nvSpPr>
            <p:cNvPr id="3" name="Freeform 3"/>
            <p:cNvSpPr/>
            <p:nvPr/>
          </p:nvSpPr>
          <p:spPr>
            <a:xfrm rot="11588930">
              <a:off x="10570" y="2844"/>
              <a:ext cx="6944" cy="6816"/>
            </a:xfrm>
            <a:custGeom>
              <a:avLst/>
              <a:gdLst/>
              <a:ahLst/>
              <a:cxnLst/>
              <a:rect l="l" t="t" r="r" b="b"/>
              <a:pathLst>
                <a:path w="2879096" h="2825937">
                  <a:moveTo>
                    <a:pt x="155801" y="656522"/>
                  </a:moveTo>
                  <a:cubicBezTo>
                    <a:pt x="280483" y="472785"/>
                    <a:pt x="506988" y="388965"/>
                    <a:pt x="723967" y="435637"/>
                  </a:cubicBezTo>
                  <a:cubicBezTo>
                    <a:pt x="907228" y="475071"/>
                    <a:pt x="1281656" y="484786"/>
                    <a:pt x="1725140" y="102453"/>
                  </a:cubicBezTo>
                  <a:cubicBezTo>
                    <a:pt x="1725140" y="102453"/>
                    <a:pt x="2146336" y="-241209"/>
                    <a:pt x="2574960" y="330291"/>
                  </a:cubicBezTo>
                  <a:cubicBezTo>
                    <a:pt x="3003585" y="901791"/>
                    <a:pt x="2879760" y="1720941"/>
                    <a:pt x="2794035" y="1930491"/>
                  </a:cubicBezTo>
                  <a:cubicBezTo>
                    <a:pt x="2708310" y="2140041"/>
                    <a:pt x="2460660" y="2835366"/>
                    <a:pt x="1851061" y="2825841"/>
                  </a:cubicBezTo>
                  <a:cubicBezTo>
                    <a:pt x="1241461" y="2816316"/>
                    <a:pt x="1451011" y="2175093"/>
                    <a:pt x="603286" y="1933729"/>
                  </a:cubicBezTo>
                  <a:cubicBezTo>
                    <a:pt x="-244440" y="1692366"/>
                    <a:pt x="22260" y="920841"/>
                    <a:pt x="107985" y="739866"/>
                  </a:cubicBezTo>
                  <a:cubicBezTo>
                    <a:pt x="121606" y="711291"/>
                    <a:pt x="137608" y="683288"/>
                    <a:pt x="155801" y="656522"/>
                  </a:cubicBezTo>
                  <a:close/>
                </a:path>
              </a:pathLst>
            </a:custGeom>
            <a:noFill/>
            <a:ln w="9525" cap="flat">
              <a:solidFill>
                <a:srgbClr val="1F497D"/>
              </a:solidFill>
              <a:prstDash val="solid"/>
              <a:miter lim="800000"/>
            </a:ln>
            <a:effectLst/>
          </p:spPr>
          <p:txBody>
            <a:bodyPr vert="horz" lIns="91440" tIns="45720" rIns="91440" bIns="45720" anchor="ctr"/>
            <a:lstStyle/>
            <a:p>
              <a:pPr marL="0" algn="l"/>
              <a:endParaRPr/>
            </a:p>
          </p:txBody>
        </p:sp>
        <p:pic>
          <p:nvPicPr>
            <p:cNvPr id="4" name="image11.jpeg"/>
            <p:cNvPicPr>
              <a:picLocks noChangeAspect="1"/>
            </p:cNvPicPr>
            <p:nvPr/>
          </p:nvPicPr>
          <p:blipFill rotWithShape="1">
            <a:blip r:embed="rId2"/>
            <a:srcRect l="14216" r="14216"/>
            <a:stretch>
              <a:fillRect/>
            </a:stretch>
          </p:blipFill>
          <p:spPr>
            <a:xfrm rot="21445174">
              <a:off x="10657" y="2793"/>
              <a:ext cx="7111" cy="6598"/>
            </a:xfrm>
            <a:custGeom>
              <a:avLst/>
              <a:gdLst/>
              <a:ahLst/>
              <a:cxnLst/>
              <a:rect l="0" t="0" r="0" b="0"/>
              <a:pathLst>
                <a:path w="4515311" h="4189463">
                  <a:moveTo>
                    <a:pt x="1139864" y="1681"/>
                  </a:moveTo>
                  <a:cubicBezTo>
                    <a:pt x="1666331" y="38907"/>
                    <a:pt x="1958762" y="680183"/>
                    <a:pt x="3039740" y="494141"/>
                  </a:cubicBezTo>
                  <a:cubicBezTo>
                    <a:pt x="4370176" y="265163"/>
                    <a:pt x="4513638" y="1507199"/>
                    <a:pt x="4515307" y="1813904"/>
                  </a:cubicBezTo>
                  <a:cubicBezTo>
                    <a:pt x="4515453" y="1862388"/>
                    <a:pt x="4511932" y="1911661"/>
                    <a:pt x="4504565" y="1960680"/>
                  </a:cubicBezTo>
                  <a:cubicBezTo>
                    <a:pt x="4454282" y="2297034"/>
                    <a:pt x="4197159" y="2562971"/>
                    <a:pt x="3866646" y="2642434"/>
                  </a:cubicBezTo>
                  <a:cubicBezTo>
                    <a:pt x="3587485" y="2709528"/>
                    <a:pt x="3064108" y="2944432"/>
                    <a:pt x="2705395" y="3766393"/>
                  </a:cubicBezTo>
                  <a:cubicBezTo>
                    <a:pt x="2705395" y="3766393"/>
                    <a:pt x="2351807" y="4520184"/>
                    <a:pt x="1381038" y="4015432"/>
                  </a:cubicBezTo>
                  <a:cubicBezTo>
                    <a:pt x="410268" y="3510681"/>
                    <a:pt x="37969" y="2297647"/>
                    <a:pt x="17349" y="1951491"/>
                  </a:cubicBezTo>
                  <a:cubicBezTo>
                    <a:pt x="-3270" y="1605335"/>
                    <a:pt x="-122497" y="481134"/>
                    <a:pt x="725429" y="90005"/>
                  </a:cubicBezTo>
                  <a:cubicBezTo>
                    <a:pt x="884415" y="16668"/>
                    <a:pt x="1018371" y="-6910"/>
                    <a:pt x="1139864" y="1681"/>
                  </a:cubicBezTo>
                  <a:close/>
                </a:path>
              </a:pathLst>
            </a:custGeom>
            <a:ln w="12700">
              <a:solidFill>
                <a:schemeClr val="accent1">
                  <a:lumMod val="60000"/>
                  <a:lumOff val="40000"/>
                </a:schemeClr>
              </a:solidFill>
            </a:ln>
          </p:spPr>
        </p:pic>
        <p:sp>
          <p:nvSpPr>
            <p:cNvPr id="5" name="AutoShape 5"/>
            <p:cNvSpPr/>
            <p:nvPr/>
          </p:nvSpPr>
          <p:spPr>
            <a:xfrm>
              <a:off x="13808" y="2519"/>
              <a:ext cx="404" cy="404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  <p:sp>
          <p:nvSpPr>
            <p:cNvPr id="6" name="AutoShape 6"/>
            <p:cNvSpPr/>
            <p:nvPr/>
          </p:nvSpPr>
          <p:spPr>
            <a:xfrm>
              <a:off x="16460" y="8648"/>
              <a:ext cx="252" cy="252"/>
            </a:xfrm>
            <a:prstGeom prst="ellipse">
              <a:avLst/>
            </a:prstGeom>
            <a:solidFill>
              <a:srgbClr val="1F497D"/>
            </a:solidFill>
            <a:ln>
              <a:noFill/>
            </a:ln>
          </p:spPr>
          <p:txBody>
            <a:bodyPr vert="horz" lIns="91440" tIns="45720" rIns="91440" bIns="45720" anchor="ctr"/>
            <a:lstStyle/>
            <a:p>
              <a:pPr marL="0" algn="ctr"/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3620" y="1551940"/>
            <a:ext cx="5435600" cy="4601210"/>
            <a:chOff x="1657" y="2489"/>
            <a:chExt cx="8560" cy="7246"/>
          </a:xfrm>
        </p:grpSpPr>
        <p:sp>
          <p:nvSpPr>
            <p:cNvPr id="8" name="AutoShape 8"/>
            <p:cNvSpPr/>
            <p:nvPr/>
          </p:nvSpPr>
          <p:spPr>
            <a:xfrm>
              <a:off x="1657" y="3351"/>
              <a:ext cx="8560" cy="266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170" tIns="46990" rIns="90170" bIns="46990" anchor="t">
              <a:normAutofit fontScale="92500" lnSpcReduction="10000"/>
            </a:bodyPr>
            <a:lstStyle/>
            <a:p>
              <a:pPr marL="0" indent="0" algn="l" fontAlgn="auto">
                <a:lnSpc>
                  <a:spcPct val="150000"/>
                </a:lnSpc>
              </a:pPr>
              <a:r>
                <a:rPr lang="en-US" sz="1500" b="0" i="0" u="none" baseline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Daily activity measures (total users, average steps, max steps, total distance, total calories, active minutes breakdown), sleep measures (average/max/min sleep hours), heart rate &amp; weight measures, hourly measures, and composite KPIs (Fitness Score, Wellness Score, Engagement Score).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57" y="2489"/>
              <a:ext cx="8560" cy="85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90000"/>
                </a:lnSpc>
                <a:defRPr/>
              </a:pPr>
              <a:r>
                <a:rPr lang="en-US" sz="2000" b="1" i="0" u="none" baseline="0">
                  <a:solidFill>
                    <a:srgbClr val="1F497D"/>
                  </a:solidFill>
                  <a:latin typeface="思源黑体 Normal"/>
                  <a:ea typeface="思源黑体 Normal"/>
                </a:rPr>
                <a:t>Core Calculated Metrics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1657" y="7071"/>
              <a:ext cx="8560" cy="2665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170" tIns="46990" rIns="90170" bIns="46990" anchor="t">
              <a:normAutofit/>
            </a:bodyPr>
            <a:lstStyle/>
            <a:p>
              <a:pPr marL="0" indent="0" algn="l" fontAlgn="auto">
                <a:lnSpc>
                  <a:spcPct val="150000"/>
                </a:lnSpc>
              </a:pPr>
              <a:r>
                <a:rPr lang="en-US" sz="1500" b="0" i="0" u="none" baseline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Derived user segments: Sedentary Users (&lt;5000 steps), Moderately Active Users (5000–9999 steps), Highly Active Users (10000+ steps).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57" y="6226"/>
              <a:ext cx="8560" cy="850"/>
            </a:xfrm>
            <a:prstGeom prst="rect">
              <a:avLst/>
            </a:prstGeom>
            <a:noFill/>
            <a:ln>
              <a:noFill/>
            </a:ln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90000"/>
                </a:lnSpc>
                <a:defRPr/>
              </a:pPr>
              <a:r>
                <a:rPr lang="en-US" sz="2000" b="1" i="0" u="none" baseline="0">
                  <a:solidFill>
                    <a:srgbClr val="1F497D"/>
                  </a:solidFill>
                  <a:latin typeface="思源黑体 Normal"/>
                  <a:ea typeface="思源黑体 Normal"/>
                </a:rPr>
                <a:t>Segmentation Measures</a:t>
              </a:r>
              <a:endParaRPr lang="en-US" sz="110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DAX Measures</a:t>
            </a:r>
            <a:endParaRPr lang="en-US" sz="1100"/>
          </a:p>
        </p:txBody>
      </p:sp>
      <p:sp>
        <p:nvSpPr>
          <p:cNvPr id="13" name="Freeform 13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AutoShape 14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353D72">
                <a:alpha val="47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3.jpeg"/>
          <p:cNvPicPr>
            <a:picLocks noChangeAspect="1"/>
          </p:cNvPicPr>
          <p:nvPr/>
        </p:nvPicPr>
        <p:blipFill rotWithShape="1">
          <a:blip r:embed="rId2"/>
          <a:srcRect t="15412" b="15412"/>
          <a:stretch>
            <a:fillRect/>
          </a:stretch>
        </p:blipFill>
        <p:spPr>
          <a:xfrm>
            <a:off x="838200" y="4048125"/>
            <a:ext cx="4319905" cy="1993900"/>
          </a:xfrm>
          <a:custGeom>
            <a:avLst/>
            <a:gdLst/>
            <a:ahLst/>
            <a:cxnLst/>
            <a:rect l="0" t="0" r="0" b="0"/>
            <a:pathLst>
              <a:path w="4258967" h="1965412">
                <a:moveTo>
                  <a:pt x="0" y="0"/>
                </a:moveTo>
                <a:lnTo>
                  <a:pt x="4258967" y="0"/>
                </a:lnTo>
                <a:lnTo>
                  <a:pt x="4258967" y="1965412"/>
                </a:lnTo>
                <a:lnTo>
                  <a:pt x="0" y="1965412"/>
                </a:lnTo>
                <a:close/>
              </a:path>
            </a:pathLst>
          </a:custGeom>
          <a:ln w="3175" cap="flat" cmpd="sng">
            <a:solidFill>
              <a:schemeClr val="tx1">
                <a:alpha val="20000"/>
                <a:lumMod val="40000"/>
                <a:lumOff val="60000"/>
              </a:schemeClr>
            </a:solidFill>
            <a:prstDash val="solid"/>
          </a:ln>
        </p:spPr>
      </p:pic>
      <p:pic>
        <p:nvPicPr>
          <p:cNvPr id="3" name="image13.jpeg"/>
          <p:cNvPicPr>
            <a:picLocks noChangeAspect="1"/>
          </p:cNvPicPr>
          <p:nvPr/>
        </p:nvPicPr>
        <p:blipFill rotWithShape="1">
          <a:blip r:embed="rId3"/>
          <a:srcRect t="15420" b="15420"/>
          <a:stretch>
            <a:fillRect/>
          </a:stretch>
        </p:blipFill>
        <p:spPr>
          <a:xfrm>
            <a:off x="838201" y="1633220"/>
            <a:ext cx="4320000" cy="1993577"/>
          </a:xfrm>
          <a:custGeom>
            <a:avLst/>
            <a:gdLst/>
            <a:ahLst/>
            <a:cxnLst/>
            <a:rect l="0" t="0" r="0" b="0"/>
            <a:pathLst>
              <a:path w="4258967" h="1965412">
                <a:moveTo>
                  <a:pt x="0" y="0"/>
                </a:moveTo>
                <a:lnTo>
                  <a:pt x="4258967" y="0"/>
                </a:lnTo>
                <a:lnTo>
                  <a:pt x="4258967" y="1965412"/>
                </a:lnTo>
                <a:lnTo>
                  <a:pt x="0" y="1965412"/>
                </a:lnTo>
                <a:close/>
              </a:path>
            </a:pathLst>
          </a:custGeom>
          <a:ln w="3175" cap="flat" cmpd="sng">
            <a:solidFill>
              <a:schemeClr val="tx1">
                <a:alpha val="20000"/>
                <a:lumMod val="40000"/>
                <a:lumOff val="60000"/>
              </a:schemeClr>
            </a:solidFill>
            <a:prstDash val="solid"/>
          </a:ln>
        </p:spPr>
      </p:pic>
      <p:sp>
        <p:nvSpPr>
          <p:cNvPr id="4" name="TextBox 4"/>
          <p:cNvSpPr txBox="1"/>
          <p:nvPr/>
        </p:nvSpPr>
        <p:spPr>
          <a:xfrm>
            <a:off x="5739130" y="1586865"/>
            <a:ext cx="5689600" cy="4318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1F497D"/>
                </a:solidFill>
                <a:latin typeface="思源黑体 Normal"/>
                <a:ea typeface="思源黑体 Normal"/>
              </a:rPr>
              <a:t>Page Structure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39130" y="2032312"/>
            <a:ext cx="5689600" cy="154813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 dirty="0">
                <a:solidFill>
                  <a:srgbClr val="262626"/>
                </a:solidFill>
                <a:latin typeface="思源黑体 Normal"/>
                <a:ea typeface="思源黑体 Normal"/>
              </a:rPr>
              <a:t>Seven dashboards: Home, Executive Overview, Physical Activity Analysis, Calorie Expenditure Analysis, Sleep &amp; Wellness Analysis, Hourly Activity Analysis, User Segmentation &amp; Business Insights.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739130" y="4048125"/>
            <a:ext cx="5689600" cy="4318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 dirty="0">
                <a:solidFill>
                  <a:srgbClr val="1F497D"/>
                </a:solidFill>
                <a:latin typeface="思源黑体 Normal"/>
                <a:ea typeface="思源黑体 Normal"/>
              </a:rPr>
              <a:t>Executive Dashboard KPIs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5739130" y="4493895"/>
            <a:ext cx="5689600" cy="154813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Total users, total steps, total calories, total distance, average sleep hours, average heart rate – providing a complete snapshot of user fitness behavior.</a:t>
            </a:r>
          </a:p>
        </p:txBody>
      </p:sp>
      <p:sp>
        <p:nvSpPr>
          <p:cNvPr id="8" name="Freeform 8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Dashboard Pages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6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 dirty="0" smtClean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Home</a:t>
            </a:r>
            <a:r>
              <a:rPr lang="en-US" sz="3200" b="1" i="0" u="none" dirty="0" smtClean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 </a:t>
            </a:r>
            <a:r>
              <a:rPr lang="en-US" sz="3200" b="1" i="0" u="none" baseline="0" dirty="0" smtClean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Dashboard Screenshot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145287"/>
            <a:ext cx="9982200" cy="556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9148"/>
      </p:ext>
    </p:extLst>
  </p:cSld>
  <p:clrMapOvr>
    <a:masterClrMapping/>
  </p:clrMapOvr>
  <p:transition advClick="0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6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 dirty="0" smtClean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Executive Overview</a:t>
            </a:r>
            <a:r>
              <a:rPr lang="en-US" sz="3200" b="1" i="0" u="none" dirty="0" smtClean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 </a:t>
            </a:r>
            <a:r>
              <a:rPr lang="en-US" sz="3200" b="1" i="0" u="none" baseline="0" dirty="0" smtClean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Dashboard Screenshot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346" y="1143000"/>
            <a:ext cx="9614707" cy="556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593689"/>
      </p:ext>
    </p:extLst>
  </p:cSld>
  <p:clrMapOvr>
    <a:masterClrMapping/>
  </p:clrMapOvr>
  <p:transition advClick="0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353D72">
                <a:alpha val="47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6000" y="1341726"/>
            <a:ext cx="5656527" cy="4934385"/>
          </a:xfrm>
          <a:custGeom>
            <a:avLst/>
            <a:gdLst/>
            <a:ahLst/>
            <a:cxnLst/>
            <a:rect l="l" t="t" r="r" b="b"/>
            <a:pathLst>
              <a:path w="5656607" h="4934454">
                <a:moveTo>
                  <a:pt x="0" y="298931"/>
                </a:moveTo>
                <a:lnTo>
                  <a:pt x="0" y="4635524"/>
                </a:lnTo>
                <a:cubicBezTo>
                  <a:pt x="0" y="4800617"/>
                  <a:pt x="139952" y="4934455"/>
                  <a:pt x="312591" y="4934455"/>
                </a:cubicBezTo>
                <a:lnTo>
                  <a:pt x="4364164" y="4934455"/>
                </a:lnTo>
                <a:cubicBezTo>
                  <a:pt x="4511369" y="4934455"/>
                  <a:pt x="4638625" y="4836244"/>
                  <a:pt x="4669709" y="4698646"/>
                </a:cubicBezTo>
                <a:lnTo>
                  <a:pt x="5649438" y="362058"/>
                </a:lnTo>
                <a:cubicBezTo>
                  <a:pt x="5691506" y="175836"/>
                  <a:pt x="5543119" y="0"/>
                  <a:pt x="5343892" y="0"/>
                </a:cubicBezTo>
                <a:lnTo>
                  <a:pt x="312591" y="0"/>
                </a:lnTo>
                <a:cubicBezTo>
                  <a:pt x="139952" y="0"/>
                  <a:pt x="0" y="133836"/>
                  <a:pt x="0" y="298931"/>
                </a:cubicBezTo>
                <a:close/>
              </a:path>
            </a:pathLst>
          </a:custGeom>
          <a:solidFill>
            <a:srgbClr val="F7F8FC"/>
          </a:solidFill>
          <a:ln cap="flat">
            <a:noFill/>
            <a:prstDash val="solid"/>
            <a:miter lim="800000"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3" name="Freeform 3"/>
          <p:cNvSpPr/>
          <p:nvPr/>
        </p:nvSpPr>
        <p:spPr>
          <a:xfrm flipH="1" flipV="1">
            <a:off x="5763864" y="1341726"/>
            <a:ext cx="5656527" cy="4934385"/>
          </a:xfrm>
          <a:custGeom>
            <a:avLst/>
            <a:gdLst/>
            <a:ahLst/>
            <a:cxnLst/>
            <a:rect l="l" t="t" r="r" b="b"/>
            <a:pathLst>
              <a:path w="5656607" h="4934454">
                <a:moveTo>
                  <a:pt x="0" y="298931"/>
                </a:moveTo>
                <a:lnTo>
                  <a:pt x="0" y="4635524"/>
                </a:lnTo>
                <a:cubicBezTo>
                  <a:pt x="0" y="4800617"/>
                  <a:pt x="139952" y="4934455"/>
                  <a:pt x="312591" y="4934455"/>
                </a:cubicBezTo>
                <a:lnTo>
                  <a:pt x="4364164" y="4934455"/>
                </a:lnTo>
                <a:cubicBezTo>
                  <a:pt x="4511369" y="4934455"/>
                  <a:pt x="4638625" y="4836244"/>
                  <a:pt x="4669709" y="4698646"/>
                </a:cubicBezTo>
                <a:lnTo>
                  <a:pt x="5649438" y="362058"/>
                </a:lnTo>
                <a:cubicBezTo>
                  <a:pt x="5691506" y="175836"/>
                  <a:pt x="5543119" y="0"/>
                  <a:pt x="5343892" y="0"/>
                </a:cubicBezTo>
                <a:lnTo>
                  <a:pt x="312591" y="0"/>
                </a:lnTo>
                <a:cubicBezTo>
                  <a:pt x="139952" y="0"/>
                  <a:pt x="0" y="133836"/>
                  <a:pt x="0" y="298931"/>
                </a:cubicBezTo>
                <a:close/>
              </a:path>
            </a:pathLst>
          </a:custGeom>
          <a:solidFill>
            <a:srgbClr val="F7F8FC"/>
          </a:solidFill>
          <a:ln cap="flat">
            <a:noFill/>
            <a:prstDash val="solid"/>
            <a:miter lim="800000"/>
          </a:ln>
        </p:spPr>
        <p:txBody>
          <a:bodyPr vert="horz" wrap="square" lIns="90170" tIns="46990" rIns="90170" bIns="46990" anchor="ctr">
            <a:normAutofit/>
          </a:bodyPr>
          <a:lstStyle/>
          <a:p>
            <a:pPr marL="0" algn="l"/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951230" y="1636994"/>
            <a:ext cx="864000" cy="828000"/>
          </a:xfrm>
          <a:prstGeom prst="rect">
            <a:avLst/>
          </a:prstGeom>
          <a:noFill/>
        </p:spPr>
        <p:txBody>
          <a:bodyPr vert="horz" wrap="square" lIns="90170" tIns="46990" rIns="90170" bIns="46990" anchor="b">
            <a:normAutofit/>
          </a:bodyPr>
          <a:lstStyle/>
          <a:p>
            <a:pPr marL="0" algn="l">
              <a:spcBef>
                <a:spcPct val="0"/>
              </a:spcBef>
              <a:spcAft>
                <a:spcPct val="0"/>
              </a:spcAft>
            </a:pPr>
            <a:r>
              <a:rPr lang="en-US" sz="4320" b="1" i="0" u="none" baseline="0">
                <a:solidFill>
                  <a:srgbClr val="1F497D"/>
                </a:solidFill>
                <a:latin typeface="思源黑体 Normal"/>
                <a:ea typeface="思源黑体 Normal"/>
              </a:rPr>
              <a:t>01</a:t>
            </a:r>
          </a:p>
        </p:txBody>
      </p:sp>
      <p:sp>
        <p:nvSpPr>
          <p:cNvPr id="5" name="AutoShape 5"/>
          <p:cNvSpPr/>
          <p:nvPr/>
        </p:nvSpPr>
        <p:spPr>
          <a:xfrm>
            <a:off x="10335836" y="1636994"/>
            <a:ext cx="864000" cy="828000"/>
          </a:xfrm>
          <a:prstGeom prst="rect">
            <a:avLst/>
          </a:prstGeom>
          <a:noFill/>
        </p:spPr>
        <p:txBody>
          <a:bodyPr vert="horz" wrap="square" lIns="90170" tIns="46990" rIns="90170" bIns="46990" anchor="b">
            <a:normAutofit/>
          </a:bodyPr>
          <a:lstStyle/>
          <a:p>
            <a:pPr marL="0" algn="r">
              <a:spcBef>
                <a:spcPct val="0"/>
              </a:spcBef>
              <a:spcAft>
                <a:spcPct val="0"/>
              </a:spcAft>
            </a:pPr>
            <a:r>
              <a:rPr lang="en-US" sz="4320" b="1" i="0" u="none" baseline="0">
                <a:solidFill>
                  <a:srgbClr val="1F497D"/>
                </a:solidFill>
                <a:latin typeface="思源黑体 Normal"/>
                <a:ea typeface="思源黑体 Normal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51230" y="2531745"/>
            <a:ext cx="4357370" cy="82804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1F497D"/>
                </a:solidFill>
                <a:latin typeface="思源黑体 Normal"/>
                <a:ea typeface="思源黑体 Normal"/>
              </a:rPr>
              <a:t>Key Metrics Displayed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6842125" y="2533015"/>
            <a:ext cx="4357370" cy="82804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r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1F497D"/>
                </a:solidFill>
                <a:latin typeface="思源黑体 Normal"/>
                <a:ea typeface="思源黑体 Normal"/>
              </a:rPr>
              <a:t>Business Insight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1230" y="3395980"/>
            <a:ext cx="4356000" cy="238252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l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Average daily steps, active minutes breakdown (very, fairly, lightly), distance covered, calories burned.</a:t>
            </a:r>
          </a:p>
        </p:txBody>
      </p:sp>
      <p:sp>
        <p:nvSpPr>
          <p:cNvPr id="9" name="AutoShape 9"/>
          <p:cNvSpPr/>
          <p:nvPr/>
        </p:nvSpPr>
        <p:spPr>
          <a:xfrm>
            <a:off x="6843495" y="3395980"/>
            <a:ext cx="4356000" cy="238252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r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Many users fail to reach 10,000 steps; activity directly impacts calorie expenditure; active users are the primary contributors to overall platform performance.</a:t>
            </a:r>
          </a:p>
        </p:txBody>
      </p:sp>
      <p:sp>
        <p:nvSpPr>
          <p:cNvPr id="10" name="Freeform 10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Physical Activity &amp; Calories Dashboard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6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 dirty="0" smtClean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Physical Activity Analysis Dashboard Screenshot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346" y="1143000"/>
            <a:ext cx="9614707" cy="556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593689"/>
      </p:ext>
    </p:extLst>
  </p:cSld>
  <p:clrMapOvr>
    <a:masterClrMapping/>
  </p:clrMapOvr>
  <p:transition advClick="0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6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 dirty="0" smtClean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Calorie Activity Analysis Dashboard Screenshot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346" y="1143000"/>
            <a:ext cx="9614707" cy="556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753762"/>
      </p:ext>
    </p:extLst>
  </p:cSld>
  <p:clrMapOvr>
    <a:masterClrMapping/>
  </p:clrMapOvr>
  <p:transition advClick="0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353D72">
                <a:alpha val="47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17.jpeg"/>
          <p:cNvPicPr>
            <a:picLocks noChangeAspect="1"/>
          </p:cNvPicPr>
          <p:nvPr/>
        </p:nvPicPr>
        <p:blipFill>
          <a:blip r:embed="rId2"/>
          <a:srcRect l="14171" r="14171"/>
          <a:stretch>
            <a:fillRect/>
          </a:stretch>
        </p:blipFill>
        <p:spPr>
          <a:xfrm>
            <a:off x="6700520" y="0"/>
            <a:ext cx="5491480" cy="5495925"/>
          </a:xfrm>
          <a:custGeom>
            <a:avLst/>
            <a:gdLst/>
            <a:ahLst/>
            <a:cxnLst/>
            <a:rect l="0" t="0" r="0" b="0"/>
            <a:pathLst>
              <a:path w="6036950" h="6040857">
                <a:moveTo>
                  <a:pt x="2276483" y="0"/>
                </a:moveTo>
                <a:lnTo>
                  <a:pt x="6036950" y="0"/>
                </a:lnTo>
                <a:lnTo>
                  <a:pt x="6036950" y="2936006"/>
                </a:lnTo>
                <a:lnTo>
                  <a:pt x="4238679" y="5156686"/>
                </a:lnTo>
                <a:cubicBezTo>
                  <a:pt x="3409718" y="6180367"/>
                  <a:pt x="1907854" y="6338220"/>
                  <a:pt x="884172" y="5509259"/>
                </a:cubicBezTo>
                <a:cubicBezTo>
                  <a:pt x="-139509" y="4680298"/>
                  <a:pt x="-297361" y="3178434"/>
                  <a:pt x="531600" y="2154752"/>
                </a:cubicBezTo>
                <a:close/>
              </a:path>
            </a:pathLst>
          </a:custGeom>
          <a:ln w="9525" cap="flat" cmpd="sng">
            <a:solidFill>
              <a:schemeClr val="tx1">
                <a:alpha val="50000"/>
                <a:lumMod val="40000"/>
                <a:lumOff val="60000"/>
              </a:schemeClr>
            </a:solidFill>
            <a:prstDash val="solid"/>
          </a:ln>
          <a:effectLst>
            <a:outerShdw dist="254000" dir="4200000" algn="ctr" rotWithShape="0">
              <a:schemeClr val="accent1">
                <a:alpha val="15000"/>
              </a:schemeClr>
            </a:outerShdw>
          </a:effectLst>
        </p:spPr>
      </p:pic>
      <p:sp>
        <p:nvSpPr>
          <p:cNvPr id="3" name="TextBox 3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Sleep &amp; Wellness Dashboard</a:t>
            </a:r>
            <a:endParaRPr lang="en-US" sz="1100"/>
          </a:p>
        </p:txBody>
      </p:sp>
      <p:sp>
        <p:nvSpPr>
          <p:cNvPr id="4" name="Freeform 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685165" y="1831975"/>
            <a:ext cx="5594985" cy="198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Average sleep hours, sleep duration distribution, heart rate trends, BMI. Sleep behavior varies significantly; better sleep supports higher wellness outcomes; wellness indicators reveal user health trends.</a:t>
            </a:r>
            <a:endParaRPr lang="en-US" sz="1100"/>
          </a:p>
        </p:txBody>
      </p:sp>
      <p:sp>
        <p:nvSpPr>
          <p:cNvPr id="6" name="TextBox 6"/>
          <p:cNvSpPr txBox="1"/>
          <p:nvPr/>
        </p:nvSpPr>
        <p:spPr>
          <a:xfrm>
            <a:off x="685165" y="1292225"/>
            <a:ext cx="5594985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1F497D"/>
                </a:solidFill>
                <a:latin typeface="思源黑体 Normal"/>
                <a:ea typeface="思源黑体 Normal"/>
              </a:rPr>
              <a:t>Key Metrics &amp; Insights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685165" y="4518660"/>
            <a:ext cx="5594985" cy="198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6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Users with consistent sleep patterns exhibit higher engagement scores, suggesting sleep quality as a key lever for retention.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685165" y="3978910"/>
            <a:ext cx="5594985" cy="539750"/>
          </a:xfrm>
          <a:prstGeom prst="rect">
            <a:avLst/>
          </a:prstGeom>
          <a:noFill/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1F497D"/>
                </a:solidFill>
                <a:latin typeface="思源黑体 Normal"/>
                <a:ea typeface="思源黑体 Normal"/>
              </a:rPr>
              <a:t>Actionable Observation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6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dirty="0" smtClean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Sleep &amp; Wellness Analysis </a:t>
            </a:r>
            <a:r>
              <a:rPr lang="en-US" sz="3200" b="1" i="0" u="none" baseline="0" dirty="0" smtClean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Dashboard Screenshot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346" y="1143000"/>
            <a:ext cx="9614707" cy="556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593689"/>
      </p:ext>
    </p:extLst>
  </p:cSld>
  <p:clrMapOvr>
    <a:masterClrMapping/>
  </p:clrMapOvr>
  <p:transition advClick="0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353D72">
                <a:alpha val="47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42.jpeg"/>
          <p:cNvPicPr>
            <a:picLocks noChangeAspect="1"/>
          </p:cNvPicPr>
          <p:nvPr/>
        </p:nvPicPr>
        <p:blipFill>
          <a:blip r:embed="rId2"/>
          <a:srcRect l="12238" r="12238"/>
          <a:stretch>
            <a:fillRect/>
          </a:stretch>
        </p:blipFill>
        <p:spPr>
          <a:xfrm>
            <a:off x="-12700" y="1419543"/>
            <a:ext cx="5348028" cy="4724400"/>
          </a:xfrm>
          <a:custGeom>
            <a:avLst/>
            <a:gdLst/>
            <a:ahLst/>
            <a:cxnLst/>
            <a:rect l="0" t="0" r="0" b="0"/>
            <a:pathLst>
              <a:path w="5348028" h="4724400">
                <a:moveTo>
                  <a:pt x="0" y="0"/>
                </a:moveTo>
                <a:lnTo>
                  <a:pt x="2985828" y="0"/>
                </a:lnTo>
                <a:cubicBezTo>
                  <a:pt x="4290118" y="0"/>
                  <a:pt x="5348028" y="1057910"/>
                  <a:pt x="5348028" y="2362200"/>
                </a:cubicBezTo>
                <a:cubicBezTo>
                  <a:pt x="5348028" y="3666490"/>
                  <a:pt x="4290118" y="4724400"/>
                  <a:pt x="2985828" y="4724400"/>
                </a:cubicBezTo>
                <a:lnTo>
                  <a:pt x="0" y="4724400"/>
                </a:lnTo>
                <a:close/>
              </a:path>
            </a:pathLst>
          </a:custGeom>
          <a:ln w="9525" cap="flat" cmpd="sng">
            <a:solidFill>
              <a:schemeClr val="dk1">
                <a:alpha val="50000"/>
                <a:lumMod val="40000"/>
                <a:lumOff val="60000"/>
              </a:schemeClr>
            </a:solidFill>
            <a:prstDash val="solid"/>
          </a:ln>
        </p:spPr>
      </p:pic>
      <p:grpSp>
        <p:nvGrpSpPr>
          <p:cNvPr id="3" name="Group 3"/>
          <p:cNvGrpSpPr/>
          <p:nvPr/>
        </p:nvGrpSpPr>
        <p:grpSpPr>
          <a:xfrm>
            <a:off x="5755640" y="1220470"/>
            <a:ext cx="5594350" cy="5122545"/>
            <a:chOff x="9064" y="1742"/>
            <a:chExt cx="8810" cy="8067"/>
          </a:xfrm>
        </p:grpSpPr>
        <p:sp>
          <p:nvSpPr>
            <p:cNvPr id="4" name="TextBox 4"/>
            <p:cNvSpPr txBox="1"/>
            <p:nvPr/>
          </p:nvSpPr>
          <p:spPr>
            <a:xfrm>
              <a:off x="9064" y="2592"/>
              <a:ext cx="8811" cy="3118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Peak activity hours, hourly steps/calories, intensity trends, and user segmentation into three behavioral groups.</a:t>
              </a:r>
              <a:endParaRPr lang="en-US" sz="110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64" y="1742"/>
              <a:ext cx="8811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1F497D"/>
                  </a:solidFill>
                  <a:latin typeface="思源黑体 Normal"/>
                  <a:ea typeface="思源黑体 Normal"/>
                </a:rPr>
                <a:t>Analysis Areas</a:t>
              </a:r>
              <a:endParaRPr lang="en-US" sz="110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64" y="6691"/>
              <a:ext cx="8811" cy="3118"/>
            </a:xfrm>
            <a:prstGeom prst="rect">
              <a:avLst/>
            </a:prstGeom>
          </p:spPr>
          <p:txBody>
            <a:bodyPr vert="horz" wrap="square" lIns="90170" tIns="46990" rIns="90170" bIns="46990" rtlCol="0" anchor="t">
              <a:normAutofit/>
            </a:bodyPr>
            <a:lstStyle/>
            <a:p>
              <a:pPr marL="0" indent="0" algn="just" fontAlgn="auto">
                <a:lnSpc>
                  <a:spcPct val="150000"/>
                </a:lnSpc>
                <a:defRPr/>
              </a:pPr>
              <a:r>
                <a:rPr lang="en-US" sz="1600" b="0" i="0" u="none" baseline="0">
                  <a:solidFill>
                    <a:srgbClr val="262626"/>
                  </a:solidFill>
                  <a:latin typeface="思源黑体 Normal"/>
                  <a:ea typeface="思源黑体 Normal"/>
                </a:rPr>
                <a:t>Sedentary users (&lt;5000 steps) represent the biggest opportunity for improvement; moderately active users (5000–9999) form the largest segment; highly active users (10000+) demonstrate strongest retention potential.</a:t>
              </a:r>
              <a:endParaRPr lang="en-US" sz="11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64" y="5841"/>
              <a:ext cx="8811" cy="850"/>
            </a:xfrm>
            <a:prstGeom prst="rect">
              <a:avLst/>
            </a:prstGeom>
            <a:noFill/>
          </p:spPr>
          <p:txBody>
            <a:bodyPr vert="horz" wrap="square" lIns="90170" tIns="46990" rIns="90170" bIns="46990" rtlCol="0" anchor="ctr">
              <a:normAutofit/>
            </a:bodyPr>
            <a:lstStyle/>
            <a:p>
              <a:pPr marL="0" indent="0" algn="l" fontAlgn="auto">
                <a:lnSpc>
                  <a:spcPct val="110000"/>
                </a:lnSpc>
                <a:defRPr/>
              </a:pPr>
              <a:r>
                <a:rPr lang="en-US" sz="2000" b="1" i="0" u="none" baseline="0">
                  <a:solidFill>
                    <a:srgbClr val="1F497D"/>
                  </a:solidFill>
                  <a:latin typeface="思源黑体 Normal"/>
                  <a:ea typeface="思源黑体 Normal"/>
                </a:rPr>
                <a:t>Segment Profiles</a:t>
              </a:r>
              <a:endParaRPr lang="en-US" sz="110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Hourly Activity &amp; Segmentation Dashboard</a:t>
            </a:r>
            <a:endParaRPr lang="en-US" sz="1100"/>
          </a:p>
        </p:txBody>
      </p:sp>
      <p:sp>
        <p:nvSpPr>
          <p:cNvPr id="9" name="Freeform 9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AutoShape 10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6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 fontScale="92500"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 dirty="0" smtClean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Hourly &amp; Segmentation Analysis</a:t>
            </a:r>
            <a:r>
              <a:rPr lang="en-US" sz="3200" b="1" i="0" u="none" dirty="0" smtClean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 </a:t>
            </a:r>
            <a:r>
              <a:rPr lang="en-US" sz="3200" b="1" i="0" u="none" baseline="0" dirty="0" smtClean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Dashboard Screenshot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346" y="1143000"/>
            <a:ext cx="9614707" cy="556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436374"/>
      </p:ext>
    </p:extLst>
  </p:cSld>
  <p:clrMapOvr>
    <a:masterClrMapping/>
  </p:clrMapOvr>
  <p:transition advClick="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alphaModFix amt="88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9885" y="2245995"/>
            <a:ext cx="6281420" cy="176339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4400" b="1" i="0" u="none" baseline="0">
                <a:solidFill>
                  <a:schemeClr val="bg1"/>
                </a:soli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思源黑体 Medium"/>
                <a:ea typeface="思源黑体 Medium"/>
              </a:rPr>
              <a:t>Key Business Insights &amp; Recommendations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flipV="1">
            <a:off x="349885" y="4450080"/>
            <a:ext cx="5942965" cy="16510"/>
          </a:xfrm>
          <a:prstGeom prst="line">
            <a:avLst/>
          </a:prstGeom>
          <a:ln w="28575">
            <a:solidFill>
              <a:srgbClr val="1F497D"/>
            </a:solidFill>
          </a:ln>
        </p:spPr>
      </p:cxnSp>
      <p:grpSp>
        <p:nvGrpSpPr>
          <p:cNvPr id="5" name="Group 5"/>
          <p:cNvGrpSpPr/>
          <p:nvPr/>
        </p:nvGrpSpPr>
        <p:grpSpPr>
          <a:xfrm>
            <a:off x="346710" y="942975"/>
            <a:ext cx="2961005" cy="826770"/>
            <a:chOff x="1341" y="1040"/>
            <a:chExt cx="4663" cy="1302"/>
          </a:xfrm>
        </p:grpSpPr>
        <p:sp>
          <p:nvSpPr>
            <p:cNvPr id="6" name="AutoShape 6"/>
            <p:cNvSpPr/>
            <p:nvPr/>
          </p:nvSpPr>
          <p:spPr>
            <a:xfrm>
              <a:off x="1341" y="1040"/>
              <a:ext cx="4663" cy="1302"/>
            </a:xfrm>
            <a:prstGeom prst="roundRect">
              <a:avLst/>
            </a:prstGeom>
            <a:solidFill>
              <a:srgbClr val="1C4372"/>
            </a:solidFill>
            <a:ln>
              <a:noFill/>
            </a:ln>
          </p:spPr>
          <p:txBody>
            <a:bodyPr vert="horz" lIns="91440" tIns="45720" rIns="91440" bIns="45720" anchor="ctr">
              <a:noAutofit/>
            </a:bodyPr>
            <a:lstStyle/>
            <a:p>
              <a:pPr marL="0" algn="ctr"/>
              <a:endParaRPr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44" y="1059"/>
              <a:ext cx="4330" cy="126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Autofit/>
            </a:bodyPr>
            <a:lstStyle/>
            <a:p>
              <a:pPr marL="0" indent="0" algn="dist" fontAlgn="auto">
                <a:defRPr/>
              </a:pPr>
              <a:r>
                <a:rPr lang="en-US" sz="4800" b="1" i="0" u="none" baseline="0">
                  <a:solidFill>
                    <a:schemeClr val="bg2"/>
                  </a:solidFill>
                  <a:latin typeface="思源黑体 Medium"/>
                  <a:ea typeface="思源黑体 Medium"/>
                </a:rPr>
                <a:t>part-04</a:t>
              </a:r>
              <a:endParaRPr lang="en-US" sz="1100"/>
            </a:p>
          </p:txBody>
        </p:sp>
      </p:grpSp>
      <p:sp>
        <p:nvSpPr>
          <p:cNvPr id="8" name="AutoShape 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9" name="Picture 8" descr="A close up of a logo&#10;&#10;AI-generated content may be incorrect.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0"/>
            <a:ext cx="2185864" cy="85248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353D72">
                <a:alpha val="47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3325" y="1769745"/>
            <a:ext cx="5232400" cy="4364355"/>
            <a:chOff x="1022247" y="1769914"/>
            <a:chExt cx="5232251" cy="4364186"/>
          </a:xfrm>
          <a:solidFill>
            <a:srgbClr val="F7F8FC"/>
          </a:solidFill>
        </p:grpSpPr>
        <p:sp>
          <p:nvSpPr>
            <p:cNvPr id="3" name="Freeform 3"/>
            <p:cNvSpPr/>
            <p:nvPr/>
          </p:nvSpPr>
          <p:spPr>
            <a:xfrm>
              <a:off x="1022247" y="1769914"/>
              <a:ext cx="5232251" cy="4364186"/>
            </a:xfrm>
            <a:custGeom>
              <a:avLst/>
              <a:gdLst/>
              <a:ahLst/>
              <a:cxnLst/>
              <a:rect l="l" t="t" r="r" b="b"/>
              <a:pathLst>
                <a:path w="5232251" h="4239000">
                  <a:moveTo>
                    <a:pt x="575868" y="0"/>
                  </a:moveTo>
                  <a:lnTo>
                    <a:pt x="4096415" y="0"/>
                  </a:lnTo>
                  <a:lnTo>
                    <a:pt x="5232251" y="4239000"/>
                  </a:lnTo>
                  <a:lnTo>
                    <a:pt x="575868" y="4239000"/>
                  </a:lnTo>
                  <a:cubicBezTo>
                    <a:pt x="257825" y="4239000"/>
                    <a:pt x="0" y="3981175"/>
                    <a:pt x="0" y="3663132"/>
                  </a:cubicBezTo>
                  <a:lnTo>
                    <a:pt x="0" y="575868"/>
                  </a:lnTo>
                  <a:cubicBezTo>
                    <a:pt x="0" y="257825"/>
                    <a:pt x="257825" y="0"/>
                    <a:pt x="5758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4" name="AutoShape 4"/>
            <p:cNvSpPr/>
            <p:nvPr/>
          </p:nvSpPr>
          <p:spPr>
            <a:xfrm>
              <a:off x="1203707" y="2017434"/>
              <a:ext cx="803982" cy="803979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5" name="AutoShape 5"/>
            <p:cNvSpPr/>
            <p:nvPr/>
          </p:nvSpPr>
          <p:spPr>
            <a:xfrm>
              <a:off x="1260827" y="2074554"/>
              <a:ext cx="689743" cy="689741"/>
            </a:xfrm>
            <a:prstGeom prst="ellipse">
              <a:avLst/>
            </a:prstGeom>
            <a:solidFill>
              <a:srgbClr val="1F497D"/>
            </a:solidFill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6" name="Freeform 6"/>
            <p:cNvSpPr/>
            <p:nvPr/>
          </p:nvSpPr>
          <p:spPr>
            <a:xfrm>
              <a:off x="1508705" y="2315382"/>
              <a:ext cx="193988" cy="208085"/>
            </a:xfrm>
            <a:custGeom>
              <a:avLst/>
              <a:gdLst/>
              <a:ahLst/>
              <a:cxnLst/>
              <a:rect l="l" t="t" r="r" b="b"/>
              <a:pathLst>
                <a:path w="487477" h="522922">
                  <a:moveTo>
                    <a:pt x="8356" y="512114"/>
                  </a:moveTo>
                  <a:lnTo>
                    <a:pt x="8356" y="512114"/>
                  </a:lnTo>
                  <a:lnTo>
                    <a:pt x="8356" y="512114"/>
                  </a:lnTo>
                  <a:lnTo>
                    <a:pt x="7404" y="511161"/>
                  </a:lnTo>
                  <a:cubicBezTo>
                    <a:pt x="6451" y="510209"/>
                    <a:pt x="6451" y="509256"/>
                    <a:pt x="5499" y="508303"/>
                  </a:cubicBezTo>
                  <a:lnTo>
                    <a:pt x="5499" y="508303"/>
                  </a:lnTo>
                  <a:lnTo>
                    <a:pt x="5499" y="507351"/>
                  </a:lnTo>
                  <a:lnTo>
                    <a:pt x="4546" y="505446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2641" y="501636"/>
                  </a:lnTo>
                  <a:cubicBezTo>
                    <a:pt x="2641" y="501636"/>
                    <a:pt x="2641" y="500684"/>
                    <a:pt x="2641" y="500684"/>
                  </a:cubicBezTo>
                  <a:cubicBezTo>
                    <a:pt x="2641" y="499731"/>
                    <a:pt x="2641" y="499731"/>
                    <a:pt x="1689" y="498778"/>
                  </a:cubicBezTo>
                  <a:cubicBezTo>
                    <a:pt x="1689" y="497826"/>
                    <a:pt x="736" y="495921"/>
                    <a:pt x="736" y="494968"/>
                  </a:cubicBezTo>
                  <a:lnTo>
                    <a:pt x="736" y="492111"/>
                  </a:lnTo>
                  <a:cubicBezTo>
                    <a:pt x="736" y="490206"/>
                    <a:pt x="736" y="487349"/>
                    <a:pt x="736" y="485443"/>
                  </a:cubicBezTo>
                  <a:cubicBezTo>
                    <a:pt x="736" y="478776"/>
                    <a:pt x="2641" y="473061"/>
                    <a:pt x="5499" y="467346"/>
                  </a:cubicBezTo>
                  <a:lnTo>
                    <a:pt x="155041" y="151116"/>
                  </a:lnTo>
                  <a:cubicBezTo>
                    <a:pt x="157899" y="146353"/>
                    <a:pt x="158851" y="140639"/>
                    <a:pt x="158851" y="134924"/>
                  </a:cubicBezTo>
                  <a:lnTo>
                    <a:pt x="158851" y="19671"/>
                  </a:lnTo>
                  <a:lnTo>
                    <a:pt x="120751" y="19671"/>
                  </a:lnTo>
                  <a:lnTo>
                    <a:pt x="120751" y="621"/>
                  </a:lnTo>
                  <a:lnTo>
                    <a:pt x="368401" y="621"/>
                  </a:lnTo>
                  <a:lnTo>
                    <a:pt x="368401" y="19671"/>
                  </a:lnTo>
                  <a:lnTo>
                    <a:pt x="330301" y="19671"/>
                  </a:lnTo>
                  <a:lnTo>
                    <a:pt x="330301" y="134924"/>
                  </a:lnTo>
                  <a:cubicBezTo>
                    <a:pt x="330301" y="140639"/>
                    <a:pt x="331254" y="146353"/>
                    <a:pt x="334111" y="151116"/>
                  </a:cubicBezTo>
                  <a:lnTo>
                    <a:pt x="483654" y="467346"/>
                  </a:lnTo>
                  <a:cubicBezTo>
                    <a:pt x="489368" y="478776"/>
                    <a:pt x="489368" y="492111"/>
                    <a:pt x="485558" y="504493"/>
                  </a:cubicBezTo>
                  <a:lnTo>
                    <a:pt x="485558" y="504493"/>
                  </a:lnTo>
                  <a:lnTo>
                    <a:pt x="484606" y="506399"/>
                  </a:lnTo>
                  <a:cubicBezTo>
                    <a:pt x="479843" y="515924"/>
                    <a:pt x="470318" y="522591"/>
                    <a:pt x="459841" y="523543"/>
                  </a:cubicBezTo>
                  <a:lnTo>
                    <a:pt x="457936" y="523543"/>
                  </a:lnTo>
                  <a:lnTo>
                    <a:pt x="32168" y="523543"/>
                  </a:lnTo>
                  <a:lnTo>
                    <a:pt x="30264" y="523543"/>
                  </a:lnTo>
                  <a:cubicBezTo>
                    <a:pt x="29311" y="523543"/>
                    <a:pt x="28358" y="523543"/>
                    <a:pt x="27406" y="523543"/>
                  </a:cubicBezTo>
                  <a:cubicBezTo>
                    <a:pt x="26454" y="523543"/>
                    <a:pt x="24549" y="523543"/>
                    <a:pt x="23596" y="522591"/>
                  </a:cubicBezTo>
                  <a:lnTo>
                    <a:pt x="23596" y="522591"/>
                  </a:lnTo>
                  <a:cubicBezTo>
                    <a:pt x="21691" y="521639"/>
                    <a:pt x="19786" y="521639"/>
                    <a:pt x="17881" y="520686"/>
                  </a:cubicBezTo>
                  <a:lnTo>
                    <a:pt x="15976" y="519734"/>
                  </a:lnTo>
                  <a:cubicBezTo>
                    <a:pt x="15976" y="519734"/>
                    <a:pt x="15024" y="519734"/>
                    <a:pt x="15024" y="518781"/>
                  </a:cubicBezTo>
                  <a:cubicBezTo>
                    <a:pt x="13118" y="517828"/>
                    <a:pt x="11214" y="515924"/>
                    <a:pt x="10261" y="514971"/>
                  </a:cubicBezTo>
                  <a:lnTo>
                    <a:pt x="8356" y="512114"/>
                  </a:lnTo>
                  <a:lnTo>
                    <a:pt x="8356" y="512114"/>
                  </a:lnTo>
                  <a:close/>
                  <a:moveTo>
                    <a:pt x="255054" y="402576"/>
                  </a:moveTo>
                  <a:lnTo>
                    <a:pt x="252196" y="404481"/>
                  </a:lnTo>
                  <a:lnTo>
                    <a:pt x="246481" y="408291"/>
                  </a:lnTo>
                  <a:cubicBezTo>
                    <a:pt x="198856" y="439724"/>
                    <a:pt x="119799" y="440676"/>
                    <a:pt x="55029" y="414959"/>
                  </a:cubicBezTo>
                  <a:lnTo>
                    <a:pt x="51218" y="413053"/>
                  </a:lnTo>
                  <a:lnTo>
                    <a:pt x="22643" y="474014"/>
                  </a:lnTo>
                  <a:lnTo>
                    <a:pt x="21691" y="475918"/>
                  </a:lnTo>
                  <a:cubicBezTo>
                    <a:pt x="18833" y="482586"/>
                    <a:pt x="18833" y="490206"/>
                    <a:pt x="21691" y="495921"/>
                  </a:cubicBezTo>
                  <a:cubicBezTo>
                    <a:pt x="22643" y="498778"/>
                    <a:pt x="25501" y="501636"/>
                    <a:pt x="29311" y="502589"/>
                  </a:cubicBezTo>
                  <a:lnTo>
                    <a:pt x="30264" y="502589"/>
                  </a:lnTo>
                  <a:lnTo>
                    <a:pt x="31216" y="502589"/>
                  </a:lnTo>
                  <a:lnTo>
                    <a:pt x="456983" y="502589"/>
                  </a:lnTo>
                  <a:lnTo>
                    <a:pt x="457936" y="502589"/>
                  </a:lnTo>
                  <a:cubicBezTo>
                    <a:pt x="461746" y="502589"/>
                    <a:pt x="464604" y="499731"/>
                    <a:pt x="466508" y="495921"/>
                  </a:cubicBezTo>
                  <a:cubicBezTo>
                    <a:pt x="468414" y="490206"/>
                    <a:pt x="469366" y="483539"/>
                    <a:pt x="467461" y="477824"/>
                  </a:cubicBezTo>
                  <a:lnTo>
                    <a:pt x="466508" y="475918"/>
                  </a:lnTo>
                  <a:lnTo>
                    <a:pt x="465556" y="474014"/>
                  </a:lnTo>
                  <a:lnTo>
                    <a:pt x="423646" y="385431"/>
                  </a:lnTo>
                  <a:cubicBezTo>
                    <a:pt x="365543" y="372096"/>
                    <a:pt x="296011" y="376859"/>
                    <a:pt x="255054" y="402576"/>
                  </a:cubicBezTo>
                  <a:close/>
                  <a:moveTo>
                    <a:pt x="305536" y="255891"/>
                  </a:moveTo>
                  <a:cubicBezTo>
                    <a:pt x="287439" y="255891"/>
                    <a:pt x="272199" y="271131"/>
                    <a:pt x="272199" y="289228"/>
                  </a:cubicBezTo>
                  <a:cubicBezTo>
                    <a:pt x="272199" y="307326"/>
                    <a:pt x="287439" y="322566"/>
                    <a:pt x="305536" y="322566"/>
                  </a:cubicBezTo>
                  <a:cubicBezTo>
                    <a:pt x="323633" y="322566"/>
                    <a:pt x="338874" y="307326"/>
                    <a:pt x="338874" y="289228"/>
                  </a:cubicBezTo>
                  <a:cubicBezTo>
                    <a:pt x="338874" y="270178"/>
                    <a:pt x="323633" y="255891"/>
                    <a:pt x="305536" y="255891"/>
                  </a:cubicBezTo>
                  <a:close/>
                </a:path>
              </a:pathLst>
            </a:custGeom>
            <a:grpFill/>
          </p:spPr>
          <p:txBody>
            <a:bodyPr vert="horz" wrap="square" lIns="90170" tIns="46990" rIns="90170" bIns="46990" anchor="ctr">
              <a:normAutofit fontScale="47500" lnSpcReduction="20000"/>
            </a:bodyPr>
            <a:lstStyle/>
            <a:p>
              <a:pPr marL="0" algn="ctr"/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579745" y="1769745"/>
            <a:ext cx="5407631" cy="4364355"/>
            <a:chOff x="5399051" y="1769914"/>
            <a:chExt cx="5407482" cy="4364186"/>
          </a:xfrm>
          <a:solidFill>
            <a:srgbClr val="F7F8FC"/>
          </a:solidFill>
        </p:grpSpPr>
        <p:sp>
          <p:nvSpPr>
            <p:cNvPr id="8" name="Freeform 8"/>
            <p:cNvSpPr/>
            <p:nvPr/>
          </p:nvSpPr>
          <p:spPr>
            <a:xfrm>
              <a:off x="5399051" y="1769914"/>
              <a:ext cx="5407482" cy="4364186"/>
            </a:xfrm>
            <a:custGeom>
              <a:avLst/>
              <a:gdLst/>
              <a:ahLst/>
              <a:cxnLst/>
              <a:rect l="l" t="t" r="r" b="b"/>
              <a:pathLst>
                <a:path w="5407482" h="4239000">
                  <a:moveTo>
                    <a:pt x="0" y="0"/>
                  </a:moveTo>
                  <a:lnTo>
                    <a:pt x="4831614" y="0"/>
                  </a:lnTo>
                  <a:cubicBezTo>
                    <a:pt x="5149657" y="0"/>
                    <a:pt x="5407482" y="257825"/>
                    <a:pt x="5407482" y="575868"/>
                  </a:cubicBezTo>
                  <a:lnTo>
                    <a:pt x="5407482" y="3663132"/>
                  </a:lnTo>
                  <a:cubicBezTo>
                    <a:pt x="5407482" y="3981175"/>
                    <a:pt x="5149657" y="4239000"/>
                    <a:pt x="4831614" y="4239000"/>
                  </a:cubicBezTo>
                  <a:lnTo>
                    <a:pt x="1135837" y="42390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9" name="AutoShape 9"/>
            <p:cNvSpPr/>
            <p:nvPr/>
          </p:nvSpPr>
          <p:spPr>
            <a:xfrm>
              <a:off x="9804460" y="5125857"/>
              <a:ext cx="803982" cy="803979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9861580" y="5182976"/>
              <a:ext cx="689743" cy="689741"/>
            </a:xfrm>
            <a:prstGeom prst="ellipse">
              <a:avLst/>
            </a:prstGeom>
            <a:solidFill>
              <a:srgbClr val="1F497D"/>
            </a:solidFill>
          </p:spPr>
          <p:txBody>
            <a:bodyPr vert="horz" wrap="square" lIns="90170" tIns="46990" rIns="90170" bIns="46990" anchor="ctr">
              <a:normAutofit/>
            </a:bodyPr>
            <a:lstStyle/>
            <a:p>
              <a:pPr marL="0" algn="ctr"/>
              <a:endParaRPr/>
            </a:p>
          </p:txBody>
        </p:sp>
        <p:sp>
          <p:nvSpPr>
            <p:cNvPr id="11" name="Freeform 11"/>
            <p:cNvSpPr/>
            <p:nvPr/>
          </p:nvSpPr>
          <p:spPr>
            <a:xfrm>
              <a:off x="10109457" y="5423804"/>
              <a:ext cx="193988" cy="208085"/>
            </a:xfrm>
            <a:custGeom>
              <a:avLst/>
              <a:gdLst/>
              <a:ahLst/>
              <a:cxnLst/>
              <a:rect l="l" t="t" r="r" b="b"/>
              <a:pathLst>
                <a:path w="487477" h="522922">
                  <a:moveTo>
                    <a:pt x="8356" y="512114"/>
                  </a:moveTo>
                  <a:lnTo>
                    <a:pt x="8356" y="512114"/>
                  </a:lnTo>
                  <a:lnTo>
                    <a:pt x="8356" y="512114"/>
                  </a:lnTo>
                  <a:lnTo>
                    <a:pt x="7404" y="511161"/>
                  </a:lnTo>
                  <a:cubicBezTo>
                    <a:pt x="6451" y="510209"/>
                    <a:pt x="6451" y="509256"/>
                    <a:pt x="5499" y="508303"/>
                  </a:cubicBezTo>
                  <a:lnTo>
                    <a:pt x="5499" y="508303"/>
                  </a:lnTo>
                  <a:lnTo>
                    <a:pt x="5499" y="507351"/>
                  </a:lnTo>
                  <a:lnTo>
                    <a:pt x="4546" y="505446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3593" y="503541"/>
                  </a:lnTo>
                  <a:lnTo>
                    <a:pt x="2641" y="501636"/>
                  </a:lnTo>
                  <a:cubicBezTo>
                    <a:pt x="2641" y="501636"/>
                    <a:pt x="2641" y="500684"/>
                    <a:pt x="2641" y="500684"/>
                  </a:cubicBezTo>
                  <a:cubicBezTo>
                    <a:pt x="2641" y="499731"/>
                    <a:pt x="2641" y="499731"/>
                    <a:pt x="1689" y="498778"/>
                  </a:cubicBezTo>
                  <a:cubicBezTo>
                    <a:pt x="1689" y="497826"/>
                    <a:pt x="736" y="495921"/>
                    <a:pt x="736" y="494968"/>
                  </a:cubicBezTo>
                  <a:lnTo>
                    <a:pt x="736" y="492111"/>
                  </a:lnTo>
                  <a:cubicBezTo>
                    <a:pt x="736" y="490206"/>
                    <a:pt x="736" y="487349"/>
                    <a:pt x="736" y="485443"/>
                  </a:cubicBezTo>
                  <a:cubicBezTo>
                    <a:pt x="736" y="478776"/>
                    <a:pt x="2641" y="473061"/>
                    <a:pt x="5499" y="467346"/>
                  </a:cubicBezTo>
                  <a:lnTo>
                    <a:pt x="155041" y="151116"/>
                  </a:lnTo>
                  <a:cubicBezTo>
                    <a:pt x="157899" y="146353"/>
                    <a:pt x="158851" y="140639"/>
                    <a:pt x="158851" y="134924"/>
                  </a:cubicBezTo>
                  <a:lnTo>
                    <a:pt x="158851" y="19671"/>
                  </a:lnTo>
                  <a:lnTo>
                    <a:pt x="120751" y="19671"/>
                  </a:lnTo>
                  <a:lnTo>
                    <a:pt x="120751" y="621"/>
                  </a:lnTo>
                  <a:lnTo>
                    <a:pt x="368401" y="621"/>
                  </a:lnTo>
                  <a:lnTo>
                    <a:pt x="368401" y="19671"/>
                  </a:lnTo>
                  <a:lnTo>
                    <a:pt x="330301" y="19671"/>
                  </a:lnTo>
                  <a:lnTo>
                    <a:pt x="330301" y="134924"/>
                  </a:lnTo>
                  <a:cubicBezTo>
                    <a:pt x="330301" y="140639"/>
                    <a:pt x="331254" y="146353"/>
                    <a:pt x="334111" y="151116"/>
                  </a:cubicBezTo>
                  <a:lnTo>
                    <a:pt x="483654" y="467346"/>
                  </a:lnTo>
                  <a:cubicBezTo>
                    <a:pt x="489368" y="478776"/>
                    <a:pt x="489368" y="492111"/>
                    <a:pt x="485558" y="504493"/>
                  </a:cubicBezTo>
                  <a:lnTo>
                    <a:pt x="485558" y="504493"/>
                  </a:lnTo>
                  <a:lnTo>
                    <a:pt x="484606" y="506399"/>
                  </a:lnTo>
                  <a:cubicBezTo>
                    <a:pt x="479843" y="515924"/>
                    <a:pt x="470318" y="522591"/>
                    <a:pt x="459841" y="523543"/>
                  </a:cubicBezTo>
                  <a:lnTo>
                    <a:pt x="457936" y="523543"/>
                  </a:lnTo>
                  <a:lnTo>
                    <a:pt x="32168" y="523543"/>
                  </a:lnTo>
                  <a:lnTo>
                    <a:pt x="30264" y="523543"/>
                  </a:lnTo>
                  <a:cubicBezTo>
                    <a:pt x="29311" y="523543"/>
                    <a:pt x="28358" y="523543"/>
                    <a:pt x="27406" y="523543"/>
                  </a:cubicBezTo>
                  <a:cubicBezTo>
                    <a:pt x="26454" y="523543"/>
                    <a:pt x="24549" y="523543"/>
                    <a:pt x="23596" y="522591"/>
                  </a:cubicBezTo>
                  <a:lnTo>
                    <a:pt x="23596" y="522591"/>
                  </a:lnTo>
                  <a:cubicBezTo>
                    <a:pt x="21691" y="521639"/>
                    <a:pt x="19786" y="521639"/>
                    <a:pt x="17881" y="520686"/>
                  </a:cubicBezTo>
                  <a:lnTo>
                    <a:pt x="15976" y="519734"/>
                  </a:lnTo>
                  <a:cubicBezTo>
                    <a:pt x="15976" y="519734"/>
                    <a:pt x="15024" y="519734"/>
                    <a:pt x="15024" y="518781"/>
                  </a:cubicBezTo>
                  <a:cubicBezTo>
                    <a:pt x="13118" y="517828"/>
                    <a:pt x="11214" y="515924"/>
                    <a:pt x="10261" y="514971"/>
                  </a:cubicBezTo>
                  <a:lnTo>
                    <a:pt x="8356" y="512114"/>
                  </a:lnTo>
                  <a:lnTo>
                    <a:pt x="8356" y="512114"/>
                  </a:lnTo>
                  <a:close/>
                  <a:moveTo>
                    <a:pt x="255054" y="402576"/>
                  </a:moveTo>
                  <a:lnTo>
                    <a:pt x="252196" y="404481"/>
                  </a:lnTo>
                  <a:lnTo>
                    <a:pt x="246481" y="408291"/>
                  </a:lnTo>
                  <a:cubicBezTo>
                    <a:pt x="198856" y="439724"/>
                    <a:pt x="119799" y="440676"/>
                    <a:pt x="55029" y="414959"/>
                  </a:cubicBezTo>
                  <a:lnTo>
                    <a:pt x="51218" y="413053"/>
                  </a:lnTo>
                  <a:lnTo>
                    <a:pt x="22643" y="474014"/>
                  </a:lnTo>
                  <a:lnTo>
                    <a:pt x="21691" y="475918"/>
                  </a:lnTo>
                  <a:cubicBezTo>
                    <a:pt x="18833" y="482586"/>
                    <a:pt x="18833" y="490206"/>
                    <a:pt x="21691" y="495921"/>
                  </a:cubicBezTo>
                  <a:cubicBezTo>
                    <a:pt x="22643" y="498778"/>
                    <a:pt x="25501" y="501636"/>
                    <a:pt x="29311" y="502589"/>
                  </a:cubicBezTo>
                  <a:lnTo>
                    <a:pt x="30264" y="502589"/>
                  </a:lnTo>
                  <a:lnTo>
                    <a:pt x="31216" y="502589"/>
                  </a:lnTo>
                  <a:lnTo>
                    <a:pt x="456983" y="502589"/>
                  </a:lnTo>
                  <a:lnTo>
                    <a:pt x="457936" y="502589"/>
                  </a:lnTo>
                  <a:cubicBezTo>
                    <a:pt x="461746" y="502589"/>
                    <a:pt x="464604" y="499731"/>
                    <a:pt x="466508" y="495921"/>
                  </a:cubicBezTo>
                  <a:cubicBezTo>
                    <a:pt x="468414" y="490206"/>
                    <a:pt x="469366" y="483539"/>
                    <a:pt x="467461" y="477824"/>
                  </a:cubicBezTo>
                  <a:lnTo>
                    <a:pt x="466508" y="475918"/>
                  </a:lnTo>
                  <a:lnTo>
                    <a:pt x="465556" y="474014"/>
                  </a:lnTo>
                  <a:lnTo>
                    <a:pt x="423646" y="385431"/>
                  </a:lnTo>
                  <a:cubicBezTo>
                    <a:pt x="365543" y="372096"/>
                    <a:pt x="296011" y="376859"/>
                    <a:pt x="255054" y="402576"/>
                  </a:cubicBezTo>
                  <a:close/>
                  <a:moveTo>
                    <a:pt x="305536" y="255891"/>
                  </a:moveTo>
                  <a:cubicBezTo>
                    <a:pt x="287439" y="255891"/>
                    <a:pt x="272199" y="271131"/>
                    <a:pt x="272199" y="289228"/>
                  </a:cubicBezTo>
                  <a:cubicBezTo>
                    <a:pt x="272199" y="307326"/>
                    <a:pt x="287439" y="322566"/>
                    <a:pt x="305536" y="322566"/>
                  </a:cubicBezTo>
                  <a:cubicBezTo>
                    <a:pt x="323633" y="322566"/>
                    <a:pt x="338874" y="307326"/>
                    <a:pt x="338874" y="289228"/>
                  </a:cubicBezTo>
                  <a:cubicBezTo>
                    <a:pt x="338874" y="270178"/>
                    <a:pt x="323633" y="255891"/>
                    <a:pt x="305536" y="255891"/>
                  </a:cubicBezTo>
                  <a:close/>
                </a:path>
              </a:pathLst>
            </a:custGeom>
            <a:grpFill/>
          </p:spPr>
          <p:txBody>
            <a:bodyPr vert="horz" wrap="square" lIns="90170" tIns="46990" rIns="90170" bIns="46990" anchor="ctr">
              <a:normAutofit fontScale="47500" lnSpcReduction="20000"/>
            </a:bodyPr>
            <a:lstStyle/>
            <a:p>
              <a:pPr marL="0" algn="ctr"/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333500" y="2789555"/>
            <a:ext cx="4248000" cy="792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1F497D"/>
                </a:solidFill>
                <a:latin typeface="思源黑体 Normal"/>
                <a:ea typeface="思源黑体 Normal"/>
              </a:rPr>
              <a:t>Engagement Variability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333500" y="3581400"/>
            <a:ext cx="4248000" cy="198000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333333"/>
                </a:solidFill>
                <a:latin typeface="思源黑体 Normal"/>
                <a:ea typeface="思源黑体 Normal"/>
              </a:rPr>
              <a:t>User engagement varies considerably across the user base, indicating room for personalized interventions.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83985" y="1996440"/>
            <a:ext cx="4248000" cy="792000"/>
          </a:xfrm>
          <a:prstGeom prst="rect">
            <a:avLst/>
          </a:prstGeom>
        </p:spPr>
        <p:txBody>
          <a:bodyPr vert="horz" wrap="square" lIns="90170" tIns="46990" rIns="90170" bIns="46990" rtlCol="0" anchor="b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1F497D"/>
                </a:solidFill>
                <a:latin typeface="思源黑体 Normal"/>
                <a:ea typeface="思源黑体 Normal"/>
              </a:rPr>
              <a:t>Segment Opportunity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83985" y="2789555"/>
            <a:ext cx="4248000" cy="1980000"/>
          </a:xfrm>
          <a:prstGeom prst="rect">
            <a:avLst/>
          </a:prstGeom>
          <a:noFill/>
        </p:spPr>
        <p:txBody>
          <a:bodyPr vert="horz" wrap="square" lIns="90170" tIns="46990" rIns="90170" bIns="46990" anchor="t">
            <a:normAutofit/>
          </a:bodyPr>
          <a:lstStyle/>
          <a:p>
            <a:pPr marL="0" indent="0" algn="just" fontAlgn="auto">
              <a:lnSpc>
                <a:spcPct val="150000"/>
              </a:lnSpc>
            </a:pPr>
            <a:r>
              <a:rPr lang="en-US" sz="1500" b="0" i="0" u="none" baseline="0">
                <a:solidFill>
                  <a:srgbClr val="333333"/>
                </a:solidFill>
                <a:latin typeface="思源黑体 Normal"/>
                <a:ea typeface="思源黑体 Normal"/>
              </a:rPr>
              <a:t>Most users are moderately active; sleep patterns influence overall wellness; activity peaks occur during specific hours; sedentary users represent the largest untapped growth segment.</a:t>
            </a:r>
          </a:p>
        </p:txBody>
      </p:sp>
      <p:sp>
        <p:nvSpPr>
          <p:cNvPr id="16" name="Freeform 16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/>
          <a:lstStyle/>
          <a:p>
            <a:endParaRPr lang="en-IN"/>
          </a:p>
        </p:txBody>
      </p:sp>
      <p:sp>
        <p:nvSpPr>
          <p:cNvPr id="17" name="TextBox 17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Critical Data-Driven Findings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353D72">
                <a:alpha val="47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7.jpeg"/>
          <p:cNvPicPr>
            <a:picLocks noChangeAspect="1"/>
          </p:cNvPicPr>
          <p:nvPr/>
        </p:nvPicPr>
        <p:blipFill>
          <a:blip r:embed="rId2"/>
          <a:srcRect t="5866" b="5866"/>
          <a:stretch>
            <a:fillRect/>
          </a:stretch>
        </p:blipFill>
        <p:spPr>
          <a:xfrm>
            <a:off x="589390" y="1359218"/>
            <a:ext cx="3420000" cy="1868170"/>
          </a:xfrm>
          <a:prstGeom prst="round2SameRect">
            <a:avLst>
              <a:gd name="adj1" fmla="val 8956"/>
              <a:gd name="adj2" fmla="val 0"/>
            </a:avLst>
          </a:prstGeom>
          <a:ln w="9525" cap="flat" cmpd="sng">
            <a:solidFill>
              <a:schemeClr val="accent1">
                <a:alpha val="50000"/>
              </a:schemeClr>
            </a:solidFill>
            <a:prstDash val="solid"/>
          </a:ln>
        </p:spPr>
      </p:pic>
      <p:pic>
        <p:nvPicPr>
          <p:cNvPr id="3" name="image14.jpeg"/>
          <p:cNvPicPr>
            <a:picLocks noChangeAspect="1"/>
          </p:cNvPicPr>
          <p:nvPr/>
        </p:nvPicPr>
        <p:blipFill>
          <a:blip r:embed="rId3"/>
          <a:srcRect t="13961" b="13961"/>
          <a:stretch>
            <a:fillRect/>
          </a:stretch>
        </p:blipFill>
        <p:spPr>
          <a:xfrm>
            <a:off x="8220393" y="1359218"/>
            <a:ext cx="3420000" cy="1868170"/>
          </a:xfrm>
          <a:prstGeom prst="round2SameRect">
            <a:avLst>
              <a:gd name="adj1" fmla="val 8956"/>
              <a:gd name="adj2" fmla="val 0"/>
            </a:avLst>
          </a:prstGeom>
          <a:ln w="9525" cap="flat" cmpd="sng">
            <a:solidFill>
              <a:schemeClr val="accent1">
                <a:alpha val="50000"/>
              </a:schemeClr>
            </a:solidFill>
            <a:prstDash val="solid"/>
          </a:ln>
        </p:spPr>
      </p:pic>
      <p:pic>
        <p:nvPicPr>
          <p:cNvPr id="4" name="image15.jpeg"/>
          <p:cNvPicPr>
            <a:picLocks noChangeAspect="1"/>
          </p:cNvPicPr>
          <p:nvPr/>
        </p:nvPicPr>
        <p:blipFill rotWithShape="1">
          <a:blip r:embed="rId4"/>
          <a:srcRect t="8976" b="8976"/>
          <a:stretch>
            <a:fillRect/>
          </a:stretch>
        </p:blipFill>
        <p:spPr>
          <a:xfrm>
            <a:off x="4441825" y="1359218"/>
            <a:ext cx="3420000" cy="1868170"/>
          </a:xfrm>
          <a:prstGeom prst="round2SameRect">
            <a:avLst>
              <a:gd name="adj1" fmla="val 8956"/>
              <a:gd name="adj2" fmla="val 0"/>
            </a:avLst>
          </a:prstGeom>
          <a:ln w="9525" cap="flat" cmpd="sng">
            <a:solidFill>
              <a:schemeClr val="accent1">
                <a:alpha val="50000"/>
              </a:schemeClr>
            </a:solidFill>
            <a:prstDash val="solid"/>
          </a:ln>
        </p:spPr>
      </p:pic>
      <p:sp>
        <p:nvSpPr>
          <p:cNvPr id="5" name="Freeform 5"/>
          <p:cNvSpPr/>
          <p:nvPr/>
        </p:nvSpPr>
        <p:spPr>
          <a:xfrm flipV="1">
            <a:off x="589280" y="3389676"/>
            <a:ext cx="3245364" cy="116022"/>
          </a:xfrm>
          <a:custGeom>
            <a:avLst/>
            <a:gdLst/>
            <a:ahLst/>
            <a:cxnLst/>
            <a:rect l="l" t="t" r="r" b="b"/>
            <a:pathLst>
              <a:path w="3245364" h="116022">
                <a:moveTo>
                  <a:pt x="0" y="116022"/>
                </a:moveTo>
                <a:lnTo>
                  <a:pt x="456559" y="116022"/>
                </a:lnTo>
                <a:lnTo>
                  <a:pt x="547120" y="0"/>
                </a:lnTo>
                <a:lnTo>
                  <a:pt x="637681" y="116022"/>
                </a:lnTo>
                <a:lnTo>
                  <a:pt x="3245364" y="116022"/>
                </a:lnTo>
              </a:path>
            </a:pathLst>
          </a:custGeom>
          <a:noFill/>
          <a:ln>
            <a:solidFill>
              <a:srgbClr val="1F497D"/>
            </a:solidFill>
          </a:ln>
        </p:spPr>
        <p:txBody>
          <a:bodyPr vert="horz" wrap="square" lIns="90170" tIns="46990" rIns="90170" bIns="4699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6" name="Freeform 6"/>
          <p:cNvSpPr/>
          <p:nvPr/>
        </p:nvSpPr>
        <p:spPr>
          <a:xfrm flipV="1">
            <a:off x="4441825" y="3383580"/>
            <a:ext cx="3239268" cy="122118"/>
          </a:xfrm>
          <a:custGeom>
            <a:avLst/>
            <a:gdLst/>
            <a:ahLst/>
            <a:cxnLst/>
            <a:rect l="l" t="t" r="r" b="b"/>
            <a:pathLst>
              <a:path w="3239268" h="122118">
                <a:moveTo>
                  <a:pt x="0" y="116022"/>
                </a:moveTo>
                <a:lnTo>
                  <a:pt x="456559" y="116022"/>
                </a:lnTo>
                <a:lnTo>
                  <a:pt x="547120" y="0"/>
                </a:lnTo>
                <a:lnTo>
                  <a:pt x="637681" y="116022"/>
                </a:lnTo>
                <a:lnTo>
                  <a:pt x="3239268" y="122118"/>
                </a:lnTo>
              </a:path>
            </a:pathLst>
          </a:custGeom>
          <a:noFill/>
          <a:ln>
            <a:solidFill>
              <a:srgbClr val="1F497D"/>
            </a:solidFill>
          </a:ln>
        </p:spPr>
        <p:txBody>
          <a:bodyPr vert="horz" wrap="square" lIns="90170" tIns="46990" rIns="90170" bIns="4699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7" name="Freeform 7"/>
          <p:cNvSpPr/>
          <p:nvPr/>
        </p:nvSpPr>
        <p:spPr>
          <a:xfrm flipV="1">
            <a:off x="8244031" y="3389676"/>
            <a:ext cx="3245364" cy="116022"/>
          </a:xfrm>
          <a:custGeom>
            <a:avLst/>
            <a:gdLst/>
            <a:ahLst/>
            <a:cxnLst/>
            <a:rect l="l" t="t" r="r" b="b"/>
            <a:pathLst>
              <a:path w="3245364" h="116022">
                <a:moveTo>
                  <a:pt x="0" y="116022"/>
                </a:moveTo>
                <a:lnTo>
                  <a:pt x="456559" y="116022"/>
                </a:lnTo>
                <a:lnTo>
                  <a:pt x="547120" y="0"/>
                </a:lnTo>
                <a:lnTo>
                  <a:pt x="637681" y="116022"/>
                </a:lnTo>
                <a:lnTo>
                  <a:pt x="3245364" y="116022"/>
                </a:lnTo>
              </a:path>
            </a:pathLst>
          </a:custGeom>
          <a:noFill/>
          <a:ln>
            <a:solidFill>
              <a:srgbClr val="1F497D"/>
            </a:solidFill>
          </a:ln>
        </p:spPr>
        <p:txBody>
          <a:bodyPr vert="horz" wrap="square" lIns="90170" tIns="46990" rIns="90170" bIns="46990" anchor="ctr">
            <a:normAutofit fontScale="25000" lnSpcReduction="20000"/>
          </a:bodyPr>
          <a:lstStyle/>
          <a:p>
            <a:pPr marL="0" algn="ctr"/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589280" y="4311650"/>
            <a:ext cx="3420110" cy="234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Implement achievement badges, activity challenges, and goal-tracking features to boost daily activity and reduce churn among sedentary users.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4441825" y="4311650"/>
            <a:ext cx="3420110" cy="234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Introduce sleep coaching, recovery monitoring, and personalized wellness scores to enhance health outcomes and differentiate product value.</a:t>
            </a:r>
            <a:endParaRPr lang="en-US" sz="1100"/>
          </a:p>
        </p:txBody>
      </p:sp>
      <p:sp>
        <p:nvSpPr>
          <p:cNvPr id="10" name="TextBox 10"/>
          <p:cNvSpPr txBox="1"/>
          <p:nvPr/>
        </p:nvSpPr>
        <p:spPr>
          <a:xfrm>
            <a:off x="8220393" y="4311650"/>
            <a:ext cx="3420110" cy="2340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just" fontAlgn="auto">
              <a:lnSpc>
                <a:spcPct val="150000"/>
              </a:lnSpc>
              <a:defRPr/>
            </a:pPr>
            <a:r>
              <a:rPr lang="en-US" sz="1500" b="0" i="0" u="none" baseline="0">
                <a:solidFill>
                  <a:srgbClr val="262626"/>
                </a:solidFill>
                <a:latin typeface="思源黑体 Normal"/>
                <a:ea typeface="思源黑体 Normal"/>
              </a:rPr>
              <a:t>Deploy personalized notifications, segment-based campaigns, and retention programs that leverage behavioral data to increase long-term adoption.</a:t>
            </a:r>
            <a:endParaRPr lang="en-US" sz="1100"/>
          </a:p>
        </p:txBody>
      </p:sp>
      <p:sp>
        <p:nvSpPr>
          <p:cNvPr id="11" name="TextBox 11"/>
          <p:cNvSpPr txBox="1"/>
          <p:nvPr/>
        </p:nvSpPr>
        <p:spPr>
          <a:xfrm>
            <a:off x="4441825" y="3577835"/>
            <a:ext cx="3420000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1F497D"/>
                </a:solidFill>
                <a:latin typeface="思源黑体 Normal"/>
                <a:ea typeface="思源黑体 Normal"/>
              </a:rPr>
              <a:t>Wellness Programs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8220393" y="3577835"/>
            <a:ext cx="3420000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1F497D"/>
                </a:solidFill>
                <a:latin typeface="思源黑体 Normal"/>
                <a:ea typeface="思源黑体 Normal"/>
              </a:rPr>
              <a:t>Marketing &amp; Retention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589390" y="3577835"/>
            <a:ext cx="3420000" cy="792000"/>
          </a:xfrm>
          <a:prstGeom prst="rect">
            <a:avLst/>
          </a:prstGeom>
        </p:spPr>
        <p:txBody>
          <a:bodyPr vert="horz" wrap="square" lIns="90170" tIns="46990" rIns="90170" bIns="46990" rtlCol="0" anchor="t">
            <a:normAutofit/>
          </a:bodyPr>
          <a:lstStyle/>
          <a:p>
            <a:pPr marL="0" indent="0" algn="l" fontAlgn="auto">
              <a:lnSpc>
                <a:spcPct val="110000"/>
              </a:lnSpc>
              <a:defRPr/>
            </a:pPr>
            <a:r>
              <a:rPr lang="en-US" sz="2000" b="1" i="0" u="none" baseline="0">
                <a:solidFill>
                  <a:srgbClr val="1F497D"/>
                </a:solidFill>
                <a:latin typeface="思源黑体 Normal"/>
                <a:ea typeface="思源黑体 Normal"/>
              </a:rPr>
              <a:t>User Engagement Tactics</a:t>
            </a:r>
            <a:endParaRPr lang="en-US" sz="1100"/>
          </a:p>
        </p:txBody>
      </p:sp>
      <p:sp>
        <p:nvSpPr>
          <p:cNvPr id="14" name="Freeform 14"/>
          <p:cNvSpPr/>
          <p:nvPr/>
        </p:nvSpPr>
        <p:spPr>
          <a:xfrm>
            <a:off x="0" y="320040"/>
            <a:ext cx="685165" cy="718820"/>
          </a:xfrm>
          <a:custGeom>
            <a:avLst/>
            <a:gdLst/>
            <a:ahLst/>
            <a:cxnLst/>
            <a:rect l="l" t="t" r="r" b="b"/>
            <a:pathLst>
              <a:path w="461590" h="406400">
                <a:moveTo>
                  <a:pt x="258390" y="0"/>
                </a:moveTo>
                <a:lnTo>
                  <a:pt x="0" y="0"/>
                </a:lnTo>
                <a:lnTo>
                  <a:pt x="0" y="406400"/>
                </a:lnTo>
                <a:lnTo>
                  <a:pt x="258390" y="406400"/>
                </a:lnTo>
                <a:lnTo>
                  <a:pt x="461590" y="203200"/>
                </a:lnTo>
                <a:lnTo>
                  <a:pt x="258390" y="0"/>
                </a:lnTo>
                <a:close/>
              </a:path>
            </a:pathLst>
          </a:custGeom>
          <a:solidFill>
            <a:srgbClr val="1F497D"/>
          </a:solid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781050" y="319405"/>
            <a:ext cx="10800000" cy="720090"/>
          </a:xfrm>
          <a:prstGeom prst="rect">
            <a:avLst/>
          </a:prstGeom>
        </p:spPr>
        <p:txBody>
          <a:bodyPr vert="horz" wrap="square" lIns="90170" tIns="46990" rIns="90170" bIns="46990" rtlCol="0" anchor="ctr">
            <a:norm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r>
              <a:rPr lang="en-US" sz="3200" b="1" i="0" u="none" baseline="0">
                <a:ln/>
                <a:solidFill>
                  <a:srgbClr val="1F497D"/>
                </a:solidFill>
                <a:latin typeface="思源黑体 Normal"/>
                <a:ea typeface="思源黑体 Normal"/>
              </a:rPr>
              <a:t>Strategic Recommendations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</p:spTree>
  </p:cSld>
  <p:clrMapOvr>
    <a:masterClrMapping/>
  </p:clrMapOvr>
  <p:transition advClick="0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>
            <a:fillRect r="-1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342900" y="1738630"/>
            <a:ext cx="7654037" cy="286741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marL="0" indent="0" algn="l" fontAlgn="auto">
              <a:lnSpc>
                <a:spcPct val="100000"/>
              </a:lnSpc>
              <a:defRPr/>
            </a:pPr>
            <a:endParaRPr lang="en-US" sz="1100" dirty="0" smtClean="0"/>
          </a:p>
          <a:p>
            <a:pPr marL="0" indent="0" algn="l" fontAlgn="auto">
              <a:lnSpc>
                <a:spcPct val="110000"/>
              </a:lnSpc>
            </a:pPr>
            <a:r>
              <a:rPr lang="zh-CN" altLang="en-US" sz="7200" b="1" i="0" u="none" spc="200" baseline="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000000">
                      <a:alpha val="40000"/>
                    </a:srgbClr>
                  </a:outerShdw>
                </a:effectLst>
                <a:latin typeface="思源黑体 Medium"/>
                <a:ea typeface="思源黑体 Medium"/>
              </a:rPr>
              <a:t>Thank you </a:t>
            </a:r>
            <a:endParaRPr lang="zh-CN" altLang="en-US" sz="7200" b="1" i="0" u="none" spc="200" baseline="0" dirty="0">
              <a:solidFill>
                <a:schemeClr val="bg1"/>
              </a:solidFill>
              <a:effectLst>
                <a:outerShdw blurRad="50800" dist="38100" dir="5400000" algn="t" rotWithShape="0">
                  <a:srgbClr val="000000">
                    <a:alpha val="40000"/>
                  </a:srgbClr>
                </a:outerShdw>
              </a:effectLst>
              <a:latin typeface="思源黑体 Medium"/>
              <a:ea typeface="思源黑体 Medium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0795000" y="6540500"/>
            <a:ext cx="1270000" cy="190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rtlCol="0" anchor="t"/>
          <a:lstStyle/>
          <a:p>
            <a:pPr algn="r">
              <a:defRPr/>
            </a:pPr>
            <a:r>
              <a:rPr lang="en-US" sz="800" b="0" i="0" u="none" baseline="0">
                <a:solidFill>
                  <a:srgbClr val="808080"/>
                </a:solidFill>
                <a:latin typeface="Microsoft YaHei"/>
                <a:ea typeface="Microsoft YaHei"/>
              </a:rPr>
              <a:t>内容由AI生成</a:t>
            </a:r>
            <a:endParaRPr lang="en-US" sz="1100"/>
          </a:p>
        </p:txBody>
      </p:sp>
      <p:pic>
        <p:nvPicPr>
          <p:cNvPr id="14" name="Picture 13" descr="A close up of a logo&#10;&#10;AI-generated content may be incorrect.">
            <a:extLst>
              <a:ext uri="{FF2B5EF4-FFF2-40B4-BE49-F238E27FC236}">
                <a16:creationId xmlns:a16="http://schemas.microsoft.com/office/drawing/2014/main" xmlns="" id="{6729B6E3-A134-D372-1746-7318A85187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136" y="0"/>
            <a:ext cx="2185864" cy="8524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B171F"/>
      </a:dk2>
      <a:lt2>
        <a:srgbClr val="E7E6E6"/>
      </a:lt2>
      <a:accent1>
        <a:srgbClr val="4874CB"/>
      </a:accent1>
      <a:accent2>
        <a:srgbClr val="1F497D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思源黑体 Normal"/>
        <a:ea typeface="思源黑体 Normal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思源黑体 Normal"/>
        <a:ea typeface="思源黑体 Normal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1123</Words>
  <Application>Microsoft Office PowerPoint</Application>
  <PresentationFormat>Custom</PresentationFormat>
  <Paragraphs>148</Paragraphs>
  <Slides>32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HP</cp:lastModifiedBy>
  <cp:revision>15</cp:revision>
  <dcterms:created xsi:type="dcterms:W3CDTF">2026-06-02T04:52:12Z</dcterms:created>
  <dcterms:modified xsi:type="dcterms:W3CDTF">2026-06-17T07:50:11Z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pyright">
    <vt:lpwstr>https://docmee.cn</vt:lpwstr>
  </property>
  <property fmtid="{D5CDD505-2E9C-101B-9397-08002B2CF9AE}" pid="3" name="developer">
    <vt:lpwstr>https://github.com/veasion</vt:lpwstr>
  </property>
  <property fmtid="{D5CDD505-2E9C-101B-9397-08002B2CF9AE}" pid="4" name="AIGC">
    <vt:lpwstr>{"ContentPropagator":"文多多","Label":"1","ReservedCode1":"1780375932375","ProduceID":"wenduoduo-pptx-1780375932375","ReservedCode2":"1780375932375","PropagateID":"wenduoduo-pptx1780375932375","ContentProducer":"文多多"}</vt:lpwstr>
  </property>
</Properties>
</file>